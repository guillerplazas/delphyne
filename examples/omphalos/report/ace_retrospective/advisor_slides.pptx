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>
          <ns3:clr>
            <a:srgbClr val="A4A3A4"/>
          </ns3:clr>
        </ns3:guide>
        <ns3:guide id="2" pos="2880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notesMaster" Target="notesMasters/notesMaster1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Open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numbers.</a:t>
            </a:r>
            <a:r>
              <a:rPr/>
              <a:t> </a:t>
            </a:r>
            <a:r>
              <a:rPr/>
              <a:t>They</a:t>
            </a:r>
            <a:r>
              <a:rPr/>
              <a:t> </a:t>
            </a:r>
            <a:r>
              <a:rPr/>
              <a:t>belong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different</a:t>
            </a:r>
            <a:r>
              <a:rPr/>
              <a:t> </a:t>
            </a:r>
            <a:r>
              <a:rPr/>
              <a:t>comparisons.</a:t>
            </a:r>
            <a:r>
              <a:rPr/>
              <a:t> </a:t>
            </a:r>
            <a:r>
              <a:rPr/>
              <a:t>Never</a:t>
            </a:r>
            <a:r>
              <a:rPr/>
              <a:t> </a:t>
            </a:r>
            <a:r>
              <a:rPr/>
              <a:t>present</a:t>
            </a:r>
            <a:r>
              <a:rPr/>
              <a:t> </a:t>
            </a:r>
            <a:r>
              <a:rPr/>
              <a:t>38/40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validation</a:t>
            </a:r>
            <a:r>
              <a:rPr/>
              <a:t> </a:t>
            </a:r>
            <a:r>
              <a:rPr/>
              <a:t>performance.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complete</a:t>
            </a:r>
            <a:r>
              <a:rPr/>
              <a:t> </a:t>
            </a:r>
            <a:r>
              <a:rPr/>
              <a:t>reading</a:t>
            </a:r>
            <a:r>
              <a:rPr/>
              <a:t> </a:t>
            </a:r>
            <a:r>
              <a:rPr/>
              <a:t>deck;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rehearsal</a:t>
            </a:r>
            <a:r>
              <a:rPr/>
              <a:t> </a:t>
            </a:r>
            <a:r>
              <a:rPr/>
              <a:t>route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shorter</a:t>
            </a:r>
            <a:r>
              <a:rPr/>
              <a:t> </a:t>
            </a:r>
            <a:r>
              <a:rPr/>
              <a:t>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Use</a:t>
            </a:r>
            <a:r>
              <a:rPr/>
              <a:t> </a:t>
            </a:r>
            <a:r>
              <a:rPr/>
              <a:t>these</a:t>
            </a:r>
            <a:r>
              <a:rPr/>
              <a:t> </a:t>
            </a:r>
            <a:r>
              <a:rPr/>
              <a:t>questions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map.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answered</a:t>
            </a:r>
            <a:r>
              <a:rPr/>
              <a:t> </a:t>
            </a:r>
            <a:r>
              <a:rPr/>
              <a:t>visibly</a:t>
            </a:r>
            <a:r>
              <a:rPr/>
              <a:t> </a:t>
            </a:r>
            <a:r>
              <a:rPr/>
              <a:t>later;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claim</a:t>
            </a:r>
            <a:r>
              <a:rPr/>
              <a:t> </a:t>
            </a:r>
            <a:r>
              <a:rPr/>
              <a:t>depends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speaker</a:t>
            </a:r>
            <a:r>
              <a:rPr/>
              <a:t> </a:t>
            </a:r>
            <a:r>
              <a:rPr/>
              <a:t>notes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visit.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advisor</a:t>
            </a:r>
            <a:r>
              <a:rPr/>
              <a:t> </a:t>
            </a:r>
            <a:r>
              <a:rPr/>
              <a:t>knows</a:t>
            </a:r>
            <a:r>
              <a:rPr/>
              <a:t> </a:t>
            </a:r>
            <a:r>
              <a:rPr/>
              <a:t>ACE.</a:t>
            </a:r>
            <a:r>
              <a:rPr/>
              <a:t> </a:t>
            </a:r>
            <a:r>
              <a:rPr/>
              <a:t>Spend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most</a:t>
            </a:r>
            <a:r>
              <a:rPr/>
              <a:t> </a:t>
            </a:r>
            <a:r>
              <a:rPr/>
              <a:t>45</a:t>
            </a:r>
            <a:r>
              <a:rPr/>
              <a:t> </a:t>
            </a:r>
            <a:r>
              <a:rPr/>
              <a:t>seconds</a:t>
            </a:r>
            <a:r>
              <a:rPr/>
              <a:t> </a:t>
            </a:r>
            <a:r>
              <a:rPr/>
              <a:t>here.</a:t>
            </a:r>
            <a:r>
              <a:rPr/>
              <a:t> </a:t>
            </a:r>
            <a:r>
              <a:rPr/>
              <a:t>Emphasize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Reducer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separation</a:t>
            </a:r>
            <a:r>
              <a:rPr/>
              <a:t> </a:t>
            </a:r>
            <a:r>
              <a:rPr/>
              <a:t>between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evolving</a:t>
            </a:r>
            <a:r>
              <a:rPr/>
              <a:t> </a:t>
            </a:r>
            <a:r>
              <a:rPr/>
              <a:t>book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frozen</a:t>
            </a:r>
            <a:r>
              <a:rPr/>
              <a:t> </a:t>
            </a:r>
            <a:r>
              <a:rPr/>
              <a:t>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Optional</a:t>
            </a:r>
            <a:r>
              <a:rPr/>
              <a:t> </a:t>
            </a:r>
            <a:r>
              <a:rPr/>
              <a:t>visit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prove_ace.py;</a:t>
            </a:r>
            <a:r>
              <a:rPr/>
              <a:t> </a:t>
            </a:r>
            <a:r>
              <a:rPr/>
              <a:t>compare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four</a:t>
            </a:r>
            <a:r>
              <a:rPr/>
              <a:t> </a:t>
            </a:r>
            <a:r>
              <a:rPr/>
              <a:t>strategies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their</a:t>
            </a:r>
            <a:r>
              <a:rPr/>
              <a:t> </a:t>
            </a:r>
            <a:r>
              <a:rPr/>
              <a:t>policy</a:t>
            </a:r>
            <a:r>
              <a:rPr/>
              <a:t> </a:t>
            </a:r>
            <a:r>
              <a:rPr/>
              <a:t>functions.</a:t>
            </a:r>
            <a:r>
              <a:rPr/>
              <a:t> </a:t>
            </a:r>
            <a:r>
              <a:rPr/>
              <a:t>Visit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ace/ace_playbook.py</a:t>
            </a:r>
            <a:r>
              <a:rPr/>
              <a:t> </a:t>
            </a:r>
            <a:r>
              <a:rPr/>
              <a:t>merge;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ace/ace_store.py</a:t>
            </a:r>
            <a:r>
              <a:rPr/>
              <a:t> </a:t>
            </a:r>
            <a:r>
              <a:rPr/>
              <a:t>PlaybookStore.put.</a:t>
            </a:r>
            <a:r>
              <a:rPr/>
              <a:t> </a:t>
            </a:r>
            <a:r>
              <a:rPr/>
              <a:t>Mapping</a:t>
            </a:r>
            <a:r>
              <a:rPr/>
              <a:t> </a:t>
            </a:r>
            <a:r>
              <a:rPr/>
              <a:t>describes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measured</a:t>
            </a:r>
            <a:r>
              <a:rPr/>
              <a:t> </a:t>
            </a:r>
            <a:r>
              <a:rPr/>
              <a:t>architecture,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unbenchmarked</a:t>
            </a:r>
            <a:r>
              <a:rPr/>
              <a:t> </a:t>
            </a:r>
            <a:r>
              <a:rPr/>
              <a:t>work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other</a:t>
            </a:r>
            <a:r>
              <a:rPr/>
              <a:t> </a:t>
            </a:r>
            <a:r>
              <a:rPr/>
              <a:t>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conflate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original</a:t>
            </a:r>
            <a:r>
              <a:rPr/>
              <a:t> </a:t>
            </a:r>
            <a:r>
              <a:rPr/>
              <a:t>canonical</a:t>
            </a:r>
            <a:r>
              <a:rPr/>
              <a:t> </a:t>
            </a:r>
            <a:r>
              <a:rPr/>
              <a:t>$0.05</a:t>
            </a:r>
            <a:r>
              <a:rPr/>
              <a:t> </a:t>
            </a:r>
            <a:r>
              <a:rPr/>
              <a:t>setting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X</a:t>
            </a:r>
            <a:r>
              <a:rPr/>
              <a:t> </a:t>
            </a:r>
            <a:r>
              <a:rPr/>
              <a:t>experiments.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deliberately</a:t>
            </a:r>
            <a:r>
              <a:rPr/>
              <a:t> </a:t>
            </a:r>
            <a:r>
              <a:rPr/>
              <a:t>gives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settings</a:t>
            </a:r>
            <a:r>
              <a:rPr/>
              <a:t> </a:t>
            </a:r>
            <a:r>
              <a:rPr/>
              <a:t>behind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principal</a:t>
            </a:r>
            <a:r>
              <a:rPr/>
              <a:t> </a:t>
            </a:r>
            <a:r>
              <a:rPr/>
              <a:t>comparisons.</a:t>
            </a:r>
            <a:r>
              <a:rPr/>
              <a:t> </a:t>
            </a:r>
            <a:r>
              <a:rPr/>
              <a:t>testX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protected</a:t>
            </a:r>
            <a:r>
              <a:rPr/>
              <a:t> </a:t>
            </a:r>
            <a:r>
              <a:rPr/>
              <a:t>challenge</a:t>
            </a:r>
            <a:r>
              <a:rPr/>
              <a:t> </a:t>
            </a:r>
            <a:r>
              <a:rPr/>
              <a:t>outcomes</a:t>
            </a:r>
            <a:r>
              <a:rPr/>
              <a:t> </a:t>
            </a:r>
            <a:r>
              <a:rPr/>
              <a:t>remain</a:t>
            </a:r>
            <a:r>
              <a:rPr/>
              <a:t> </a:t>
            </a:r>
            <a:r>
              <a:rPr/>
              <a:t>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These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development</a:t>
            </a:r>
            <a:r>
              <a:rPr/>
              <a:t> </a:t>
            </a:r>
            <a:r>
              <a:rPr/>
              <a:t>reconstructions,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independent</a:t>
            </a:r>
            <a:r>
              <a:rPr/>
              <a:t> </a:t>
            </a:r>
            <a:r>
              <a:rPr/>
              <a:t>repeated</a:t>
            </a:r>
            <a:r>
              <a:rPr/>
              <a:t> </a:t>
            </a:r>
            <a:r>
              <a:rPr/>
              <a:t>confirmations.</a:t>
            </a:r>
            <a:r>
              <a:rPr/>
              <a:t> </a:t>
            </a:r>
            <a:r>
              <a:rPr/>
              <a:t>Early</a:t>
            </a:r>
            <a:r>
              <a:rPr/>
              <a:t> </a:t>
            </a:r>
            <a:r>
              <a:rPr/>
              <a:t>incomplete</a:t>
            </a:r>
            <a:r>
              <a:rPr/>
              <a:t> </a:t>
            </a:r>
            <a:r>
              <a:rPr/>
              <a:t>top-k,</a:t>
            </a:r>
            <a:r>
              <a:rPr/>
              <a:t> </a:t>
            </a:r>
            <a:r>
              <a:rPr/>
              <a:t>no-Reflector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online</a:t>
            </a:r>
            <a:r>
              <a:rPr/>
              <a:t> </a:t>
            </a:r>
            <a:r>
              <a:rPr/>
              <a:t>archives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scored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complete</a:t>
            </a:r>
            <a:r>
              <a:rPr/>
              <a:t> </a:t>
            </a:r>
            <a:r>
              <a:rPr/>
              <a:t>panels.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later</a:t>
            </a:r>
            <a:r>
              <a:rPr/>
              <a:t> </a:t>
            </a:r>
            <a:r>
              <a:rPr/>
              <a:t>X</a:t>
            </a:r>
            <a:r>
              <a:rPr/>
              <a:t> </a:t>
            </a:r>
            <a:r>
              <a:rPr/>
              <a:t>counts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their</a:t>
            </a:r>
            <a:r>
              <a:rPr/>
              <a:t> </a:t>
            </a:r>
            <a:r>
              <a:rPr/>
              <a:t>explicitly</a:t>
            </a:r>
            <a:r>
              <a:rPr/>
              <a:t> </a:t>
            </a:r>
            <a:r>
              <a:rPr/>
              <a:t>named</a:t>
            </a:r>
            <a:r>
              <a:rPr/>
              <a:t> </a:t>
            </a:r>
            <a:r>
              <a:rPr/>
              <a:t>versions;</a:t>
            </a:r>
            <a:r>
              <a:rPr/>
              <a:t> </a:t>
            </a:r>
            <a:r>
              <a:rPr/>
              <a:t>v2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epochs</a:t>
            </a:r>
            <a:r>
              <a:rPr/>
              <a:t> </a:t>
            </a:r>
            <a:r>
              <a:rPr/>
              <a:t>scored</a:t>
            </a:r>
            <a:r>
              <a:rPr/>
              <a:t> </a:t>
            </a:r>
            <a:r>
              <a:rPr/>
              <a:t>50/80.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stronger-writer</a:t>
            </a:r>
            <a:r>
              <a:rPr/>
              <a:t> </a:t>
            </a:r>
            <a:r>
              <a:rPr/>
              <a:t>treatment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uses</a:t>
            </a:r>
            <a:r>
              <a:rPr/>
              <a:t> </a:t>
            </a:r>
            <a:r>
              <a:rPr/>
              <a:t>Luna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Generator.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later</a:t>
            </a:r>
            <a:r>
              <a:rPr/>
              <a:t> </a:t>
            </a:r>
            <a:r>
              <a:rPr/>
              <a:t>all-Terra</a:t>
            </a:r>
            <a:r>
              <a:rPr/>
              <a:t> </a:t>
            </a:r>
            <a:r>
              <a:rPr/>
              <a:t>training</a:t>
            </a:r>
            <a:r>
              <a:rPr/>
              <a:t> </a:t>
            </a:r>
            <a:r>
              <a:rPr/>
              <a:t>chain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different.</a:t>
            </a:r>
            <a:r>
              <a:rPr/>
              <a:t> </a:t>
            </a:r>
            <a:r>
              <a:rPr/>
              <a:t>x6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raw</a:t>
            </a:r>
            <a:r>
              <a:rPr/>
              <a:t> </a:t>
            </a:r>
            <a:r>
              <a:rPr/>
              <a:t>success</a:t>
            </a:r>
            <a:r>
              <a:rPr/>
              <a:t> </a:t>
            </a:r>
            <a:r>
              <a:rPr/>
              <a:t>above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retrospective</a:t>
            </a:r>
            <a:r>
              <a:rPr/>
              <a:t> </a:t>
            </a:r>
            <a:r>
              <a:rPr/>
              <a:t>$0.10</a:t>
            </a:r>
            <a:r>
              <a:rPr/>
              <a:t> </a:t>
            </a:r>
            <a:r>
              <a:rPr/>
              <a:t>qualification</a:t>
            </a:r>
            <a:r>
              <a:rPr/>
              <a:t> </a:t>
            </a:r>
            <a:r>
              <a:rPr/>
              <a:t>threshold.</a:t>
            </a:r>
            <a:r>
              <a:rPr/>
              <a:t> </a:t>
            </a:r>
            <a:r>
              <a:rPr/>
              <a:t>Old</a:t>
            </a:r>
            <a:r>
              <a:rPr/>
              <a:t> </a:t>
            </a:r>
            <a:r>
              <a:rPr/>
              <a:t>cost</a:t>
            </a:r>
            <a:r>
              <a:rPr/>
              <a:t> </a:t>
            </a:r>
            <a:r>
              <a:rPr/>
              <a:t>exports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necessarily</a:t>
            </a:r>
            <a:r>
              <a:rPr/>
              <a:t> </a:t>
            </a:r>
            <a:r>
              <a:rPr/>
              <a:t>contain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retry</a:t>
            </a:r>
            <a:r>
              <a:rPr/>
              <a:t> </a:t>
            </a:r>
            <a:r>
              <a:rPr/>
              <a:t>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Applicability</a:t>
            </a:r>
            <a:r>
              <a:rPr/>
              <a:t> </a:t>
            </a:r>
            <a:r>
              <a:rPr/>
              <a:t>primary</a:t>
            </a:r>
            <a:r>
              <a:rPr/>
              <a:t> </a:t>
            </a:r>
            <a:r>
              <a:rPr/>
              <a:t>screen</a:t>
            </a:r>
            <a:r>
              <a:rPr/>
              <a:t> </a:t>
            </a:r>
            <a:r>
              <a:rPr/>
              <a:t>stopped;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train/validation</a:t>
            </a:r>
            <a:r>
              <a:rPr/>
              <a:t> </a:t>
            </a:r>
            <a:r>
              <a:rPr/>
              <a:t>benchmark</a:t>
            </a:r>
            <a:r>
              <a:rPr/>
              <a:t> </a:t>
            </a:r>
            <a:r>
              <a:rPr/>
              <a:t>followed.</a:t>
            </a:r>
            <a:r>
              <a:rPr/>
              <a:t> </a:t>
            </a:r>
            <a:r>
              <a:rPr/>
              <a:t>Checked-change</a:t>
            </a:r>
            <a:r>
              <a:rPr/>
              <a:t> </a:t>
            </a:r>
            <a:r>
              <a:rPr/>
              <a:t>correctness</a:t>
            </a:r>
            <a:r>
              <a:rPr/>
              <a:t> </a:t>
            </a:r>
            <a:r>
              <a:rPr/>
              <a:t>improved</a:t>
            </a:r>
            <a:r>
              <a:rPr/>
              <a:t> </a:t>
            </a:r>
            <a:r>
              <a:rPr/>
              <a:t>3/6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6/6.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control-cycle</a:t>
            </a:r>
            <a:r>
              <a:rPr/>
              <a:t> </a:t>
            </a:r>
            <a:r>
              <a:rPr/>
              <a:t>archived</a:t>
            </a:r>
            <a:r>
              <a:rPr/>
              <a:t> </a:t>
            </a:r>
            <a:r>
              <a:rPr/>
              <a:t>source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reconstruction</a:t>
            </a:r>
            <a:r>
              <a:rPr/>
              <a:t> </a:t>
            </a:r>
            <a:r>
              <a:rPr/>
              <a:t>limitations;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quietly</a:t>
            </a:r>
            <a:r>
              <a:rPr/>
              <a:t> </a:t>
            </a:r>
            <a:r>
              <a:rPr/>
              <a:t>rerun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September</a:t>
            </a:r>
            <a:r>
              <a:rPr/>
              <a:t> </a:t>
            </a:r>
            <a:r>
              <a:rPr/>
              <a:t>13</a:t>
            </a:r>
            <a:r>
              <a:rPr/>
              <a:t> </a:t>
            </a:r>
            <a:r>
              <a:rPr/>
              <a:t>row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completed</a:t>
            </a:r>
            <a:r>
              <a:rPr/>
              <a:t> </a:t>
            </a:r>
            <a:r>
              <a:rPr/>
              <a:t>snapshot,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report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other</a:t>
            </a:r>
            <a:r>
              <a:rPr/>
              <a:t> </a:t>
            </a:r>
            <a:r>
              <a:rPr/>
              <a:t>active</a:t>
            </a:r>
            <a:r>
              <a:rPr/>
              <a:t> </a:t>
            </a:r>
            <a:r>
              <a:rPr/>
              <a:t>session.</a:t>
            </a:r>
            <a:r>
              <a:rPr/>
              <a:t> </a:t>
            </a:r>
            <a:r>
              <a:rPr/>
              <a:t>Costs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controller</a:t>
            </a:r>
            <a:r>
              <a:rPr/>
              <a:t> </a:t>
            </a:r>
            <a:r>
              <a:rPr/>
              <a:t>details</a:t>
            </a:r>
            <a:r>
              <a:rPr/>
              <a:t> </a:t>
            </a:r>
            <a:r>
              <a:rPr/>
              <a:t>appear</a:t>
            </a:r>
            <a:r>
              <a:rPr/>
              <a:t> </a:t>
            </a:r>
            <a:r>
              <a:rPr/>
              <a:t>later.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ledger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archival</a:t>
            </a:r>
            <a:r>
              <a:rPr/>
              <a:t> </a:t>
            </a:r>
            <a:r>
              <a:rPr/>
              <a:t>scores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left</a:t>
            </a:r>
            <a:r>
              <a:rPr/>
              <a:t> </a:t>
            </a:r>
            <a:r>
              <a:rPr/>
              <a:t>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comparator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older</a:t>
            </a:r>
            <a:r>
              <a:rPr/>
              <a:t> </a:t>
            </a:r>
            <a:r>
              <a:rPr/>
              <a:t>review</a:t>
            </a:r>
            <a:r>
              <a:rPr/>
              <a:t> </a:t>
            </a:r>
            <a:r>
              <a:rPr/>
              <a:t>X3</a:t>
            </a:r>
            <a:r>
              <a:rPr/>
              <a:t> </a:t>
            </a:r>
            <a:r>
              <a:rPr/>
              <a:t>seed-0</a:t>
            </a:r>
            <a:r>
              <a:rPr/>
              <a:t> </a:t>
            </a:r>
            <a:r>
              <a:rPr/>
              <a:t>run,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latest</a:t>
            </a:r>
            <a:r>
              <a:rPr/>
              <a:t> </a:t>
            </a:r>
            <a:r>
              <a:rPr/>
              <a:t>27/40</a:t>
            </a:r>
            <a:r>
              <a:rPr/>
              <a:t> </a:t>
            </a:r>
            <a:r>
              <a:rPr/>
              <a:t>flagship.</a:t>
            </a:r>
            <a:r>
              <a:rPr/>
              <a:t> </a:t>
            </a:r>
            <a:r>
              <a:rPr/>
              <a:t>Total</a:t>
            </a:r>
            <a:r>
              <a:rPr/>
              <a:t> </a:t>
            </a:r>
            <a:r>
              <a:rPr/>
              <a:t>cost</a:t>
            </a:r>
            <a:r>
              <a:rPr/>
              <a:t> </a:t>
            </a:r>
            <a:r>
              <a:rPr/>
              <a:t>includes</a:t>
            </a:r>
            <a:r>
              <a:rPr/>
              <a:t> </a:t>
            </a:r>
            <a:r>
              <a:rPr/>
              <a:t>failed</a:t>
            </a:r>
            <a:r>
              <a:rPr/>
              <a:t> </a:t>
            </a:r>
            <a:r>
              <a:rPr/>
              <a:t>attempts.</a:t>
            </a:r>
            <a:r>
              <a:rPr/>
              <a:t> </a:t>
            </a:r>
            <a:r>
              <a:rPr/>
              <a:t>Categorical</a:t>
            </a:r>
            <a:r>
              <a:rPr/>
              <a:t> </a:t>
            </a:r>
            <a:r>
              <a:rPr/>
              <a:t>bars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measured</a:t>
            </a:r>
            <a:r>
              <a:rPr/>
              <a:t> </a:t>
            </a:r>
            <a:r>
              <a:rPr/>
              <a:t>alternatives;</a:t>
            </a:r>
            <a:r>
              <a:rPr/>
              <a:t> </a:t>
            </a:r>
            <a:r>
              <a:rPr/>
              <a:t>there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interpolated</a:t>
            </a:r>
            <a:r>
              <a:rPr/>
              <a:t> </a:t>
            </a:r>
            <a:r>
              <a:rPr/>
              <a:t>budget-response</a:t>
            </a:r>
            <a:r>
              <a:rPr/>
              <a:t> </a:t>
            </a:r>
            <a:r>
              <a:rPr/>
              <a:t>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arrow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historical</a:t>
            </a:r>
            <a:r>
              <a:rPr/>
              <a:t> </a:t>
            </a:r>
            <a:r>
              <a:rPr/>
              <a:t>program</a:t>
            </a:r>
            <a:r>
              <a:rPr/>
              <a:t> </a:t>
            </a:r>
            <a:r>
              <a:rPr/>
              <a:t>comparison,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paired</a:t>
            </a:r>
            <a:r>
              <a:rPr/>
              <a:t> </a:t>
            </a:r>
            <a:r>
              <a:rPr/>
              <a:t>single-feature</a:t>
            </a:r>
            <a:r>
              <a:rPr/>
              <a:t> </a:t>
            </a:r>
            <a:r>
              <a:rPr/>
              <a:t>ablation.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second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intended</a:t>
            </a:r>
            <a:r>
              <a:rPr/>
              <a:t> </a:t>
            </a:r>
            <a:r>
              <a:rPr/>
              <a:t>book</a:t>
            </a:r>
            <a:r>
              <a:rPr/>
              <a:t> </a:t>
            </a:r>
            <a:r>
              <a:rPr/>
              <a:t>intervention</a:t>
            </a:r>
            <a:r>
              <a:rPr/>
              <a:t> </a:t>
            </a:r>
            <a:r>
              <a:rPr/>
              <a:t>within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bounded</a:t>
            </a:r>
            <a:r>
              <a:rPr/>
              <a:t> </a:t>
            </a:r>
            <a:r>
              <a:rPr/>
              <a:t>program,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subject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historical/provider</a:t>
            </a:r>
            <a:r>
              <a:rPr/>
              <a:t> </a:t>
            </a:r>
            <a:r>
              <a:rPr/>
              <a:t>conditions.</a:t>
            </a:r>
            <a:r>
              <a:rPr/>
              <a:t> </a:t>
            </a:r>
            <a:r>
              <a:rPr/>
              <a:t>File:</a:t>
            </a:r>
            <a:r>
              <a:rPr/>
              <a:t> </a:t>
            </a:r>
            <a:r>
              <a:rPr/>
              <a:t>experiments/campaigns/ace_attribution_20260912/LINEAGE.md.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say</a:t>
            </a:r>
            <a:r>
              <a:rPr/>
              <a:t> </a:t>
            </a:r>
            <a:r>
              <a:rPr/>
              <a:t>ACE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proved</a:t>
            </a:r>
            <a:r>
              <a:rPr/>
              <a:t> </a:t>
            </a:r>
            <a:r>
              <a:rPr/>
              <a:t>effective,</a:t>
            </a:r>
            <a:r>
              <a:rPr/>
              <a:t> </a:t>
            </a:r>
            <a:r>
              <a:rPr/>
              <a:t>proved</a:t>
            </a:r>
            <a:r>
              <a:rPr/>
              <a:t> </a:t>
            </a:r>
            <a:r>
              <a:rPr/>
              <a:t>ineffective,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equivalent.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whole-panel</a:t>
            </a:r>
            <a:r>
              <a:rPr/>
              <a:t> </a:t>
            </a:r>
            <a:r>
              <a:rPr/>
              <a:t>count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informative</a:t>
            </a:r>
            <a:r>
              <a:rPr/>
              <a:t> </a:t>
            </a:r>
            <a:r>
              <a:rPr/>
              <a:t>than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count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cherry-picked</a:t>
            </a:r>
            <a:r>
              <a:rPr/>
              <a:t> </a:t>
            </a:r>
            <a:r>
              <a:rPr/>
              <a:t>repaired</a:t>
            </a:r>
            <a:r>
              <a:rPr/>
              <a:t> </a:t>
            </a:r>
            <a:r>
              <a:rPr/>
              <a:t>cases.</a:t>
            </a:r>
            <a:r>
              <a:rPr/>
              <a:t> </a:t>
            </a:r>
            <a:r>
              <a:rPr/>
              <a:t>Cache</a:t>
            </a:r>
            <a:r>
              <a:rPr/>
              <a:t> </a:t>
            </a:r>
            <a:r>
              <a:rPr/>
              <a:t>economics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separated</a:t>
            </a:r>
            <a:r>
              <a:rPr/>
              <a:t> </a:t>
            </a:r>
            <a:r>
              <a:rPr/>
              <a:t>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Rows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solver</a:t>
            </a:r>
            <a:r>
              <a:rPr/>
              <a:t> </a:t>
            </a:r>
            <a:r>
              <a:rPr/>
              <a:t>models,</a:t>
            </a:r>
            <a:r>
              <a:rPr/>
              <a:t> </a:t>
            </a:r>
            <a:r>
              <a:rPr/>
              <a:t>columns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frozen</a:t>
            </a:r>
            <a:r>
              <a:rPr/>
              <a:t> </a:t>
            </a:r>
            <a:r>
              <a:rPr/>
              <a:t>books.</a:t>
            </a:r>
            <a:r>
              <a:rPr/>
              <a:t> </a:t>
            </a:r>
            <a:r>
              <a:rPr/>
              <a:t>Luna</a:t>
            </a:r>
            <a:r>
              <a:rPr/>
              <a:t> </a:t>
            </a:r>
            <a:r>
              <a:rPr/>
              <a:t>cap</a:t>
            </a:r>
            <a:r>
              <a:rPr/>
              <a:t> </a:t>
            </a:r>
            <a:r>
              <a:rPr/>
              <a:t>$0.10;</a:t>
            </a:r>
            <a:r>
              <a:rPr/>
              <a:t> </a:t>
            </a:r>
            <a:r>
              <a:rPr/>
              <a:t>Terra</a:t>
            </a:r>
            <a:r>
              <a:rPr/>
              <a:t> </a:t>
            </a:r>
            <a:r>
              <a:rPr/>
              <a:t>$1.00.</a:t>
            </a:r>
            <a:r>
              <a:rPr/>
              <a:t> </a:t>
            </a:r>
            <a:r>
              <a:rPr/>
              <a:t>Same-book</a:t>
            </a:r>
            <a:r>
              <a:rPr/>
              <a:t> </a:t>
            </a:r>
            <a:r>
              <a:rPr/>
              <a:t>interaction</a:t>
            </a:r>
            <a:r>
              <a:rPr/>
              <a:t> </a:t>
            </a:r>
            <a:r>
              <a:rPr/>
              <a:t>−7.5</a:t>
            </a:r>
            <a:r>
              <a:rPr/>
              <a:t> </a:t>
            </a:r>
            <a:r>
              <a:rPr/>
              <a:t>percentage</a:t>
            </a:r>
            <a:r>
              <a:rPr/>
              <a:t> </a:t>
            </a:r>
            <a:r>
              <a:rPr/>
              <a:t>points,</a:t>
            </a:r>
            <a:r>
              <a:rPr/>
              <a:t> </a:t>
            </a:r>
            <a:r>
              <a:rPr/>
              <a:t>paired</a:t>
            </a:r>
            <a:r>
              <a:rPr/>
              <a:t> </a:t>
            </a:r>
            <a:r>
              <a:rPr/>
              <a:t>p=0.375.</a:t>
            </a:r>
            <a:r>
              <a:rPr/>
              <a:t> </a:t>
            </a:r>
            <a:r>
              <a:rPr/>
              <a:t>Own-Terra</a:t>
            </a:r>
            <a:r>
              <a:rPr/>
              <a:t> </a:t>
            </a:r>
            <a:r>
              <a:rPr/>
              <a:t>book</a:t>
            </a:r>
            <a:r>
              <a:rPr/>
              <a:t> </a:t>
            </a:r>
            <a:r>
              <a:rPr/>
              <a:t>increment</a:t>
            </a:r>
            <a:r>
              <a:rPr/>
              <a:t> </a:t>
            </a:r>
            <a:r>
              <a:rPr/>
              <a:t>p=1.0.</a:t>
            </a:r>
            <a:r>
              <a:rPr/>
              <a:t> </a:t>
            </a:r>
            <a:r>
              <a:rPr/>
              <a:t>Reused</a:t>
            </a:r>
            <a:r>
              <a:rPr/>
              <a:t> </a:t>
            </a:r>
            <a:r>
              <a:rPr/>
              <a:t>records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become</a:t>
            </a:r>
            <a:r>
              <a:rPr/>
              <a:t> </a:t>
            </a:r>
            <a:r>
              <a:rPr/>
              <a:t>independent</a:t>
            </a:r>
            <a:r>
              <a:rPr/>
              <a:t> </a:t>
            </a:r>
            <a:r>
              <a:rPr/>
              <a:t>theorems.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Avoid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categorical</a:t>
            </a:r>
            <a:r>
              <a:rPr/>
              <a:t> </a:t>
            </a:r>
            <a:r>
              <a:rPr/>
              <a:t>statement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Terra</a:t>
            </a:r>
            <a:r>
              <a:rPr/>
              <a:t> </a:t>
            </a:r>
            <a:r>
              <a:rPr/>
              <a:t>cannot</a:t>
            </a:r>
            <a:r>
              <a:rPr/>
              <a:t> </a:t>
            </a:r>
            <a:r>
              <a:rPr/>
              <a:t>benefit.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same-book</a:t>
            </a:r>
            <a:r>
              <a:rPr/>
              <a:t> </a:t>
            </a:r>
            <a:r>
              <a:rPr/>
              <a:t>interaction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p=0.375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own-Terra</a:t>
            </a:r>
            <a:r>
              <a:rPr/>
              <a:t> </a:t>
            </a:r>
            <a:r>
              <a:rPr/>
              <a:t>difference</a:t>
            </a:r>
            <a:r>
              <a:rPr/>
              <a:t> </a:t>
            </a:r>
            <a:r>
              <a:rPr/>
              <a:t>p=1.0.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gains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study</a:t>
            </a:r>
            <a:r>
              <a:rPr/>
              <a:t> </a:t>
            </a:r>
            <a:r>
              <a:rPr/>
              <a:t>design</a:t>
            </a:r>
            <a:r>
              <a:rPr/>
              <a:t> </a:t>
            </a:r>
            <a:r>
              <a:rPr/>
              <a:t>limit</a:t>
            </a:r>
            <a:r>
              <a:rPr/>
              <a:t> </a:t>
            </a:r>
            <a:r>
              <a:rPr/>
              <a:t>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Terra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used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four</a:t>
            </a:r>
            <a:r>
              <a:rPr/>
              <a:t> </a:t>
            </a:r>
            <a:r>
              <a:rPr/>
              <a:t>generative</a:t>
            </a:r>
            <a:r>
              <a:rPr/>
              <a:t> </a:t>
            </a:r>
            <a:r>
              <a:rPr/>
              <a:t>roles.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shuffled</a:t>
            </a:r>
            <a:r>
              <a:rPr/>
              <a:t> </a:t>
            </a:r>
            <a:r>
              <a:rPr/>
              <a:t>pass,</a:t>
            </a:r>
            <a:r>
              <a:rPr/>
              <a:t> </a:t>
            </a:r>
            <a:r>
              <a:rPr/>
              <a:t>four-problem</a:t>
            </a:r>
            <a:r>
              <a:rPr/>
              <a:t> </a:t>
            </a:r>
            <a:r>
              <a:rPr/>
              <a:t>batches,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book</a:t>
            </a:r>
            <a:r>
              <a:rPr/>
              <a:t> </a:t>
            </a:r>
            <a:r>
              <a:rPr/>
              <a:t>26</a:t>
            </a:r>
            <a:r>
              <a:rPr/>
              <a:t> </a:t>
            </a:r>
            <a:r>
              <a:rPr/>
              <a:t>bullets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2426</a:t>
            </a:r>
            <a:r>
              <a:rPr/>
              <a:t> </a:t>
            </a:r>
            <a:r>
              <a:rPr/>
              <a:t>estimated</a:t>
            </a:r>
            <a:r>
              <a:rPr/>
              <a:t> </a:t>
            </a:r>
            <a:r>
              <a:rPr/>
              <a:t>tokens.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training-generation</a:t>
            </a:r>
            <a:r>
              <a:rPr/>
              <a:t> </a:t>
            </a:r>
            <a:r>
              <a:rPr/>
              <a:t>misses</a:t>
            </a:r>
            <a:r>
              <a:rPr/>
              <a:t> </a:t>
            </a:r>
            <a:r>
              <a:rPr/>
              <a:t>were</a:t>
            </a:r>
            <a:r>
              <a:rPr/>
              <a:t> </a:t>
            </a:r>
            <a:r>
              <a:rPr/>
              <a:t>algebra_amgm_sum1toneqn_prod1tonleq1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imo_1967_p3.</a:t>
            </a:r>
            <a:r>
              <a:rPr/>
              <a:t> </a:t>
            </a:r>
            <a:r>
              <a:rPr/>
              <a:t>Source:</a:t>
            </a:r>
            <a:r>
              <a:rPr/>
              <a:t> </a:t>
            </a:r>
            <a:r>
              <a:rPr/>
              <a:t>training_evolution.json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training_accounting.json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ace_attribution_20260912.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Same</a:t>
            </a:r>
            <a:r>
              <a:rPr/>
              <a:t> </a:t>
            </a:r>
            <a:r>
              <a:rPr/>
              <a:t>nominal</a:t>
            </a:r>
            <a:r>
              <a:rPr/>
              <a:t> </a:t>
            </a:r>
            <a:r>
              <a:rPr/>
              <a:t>Terra</a:t>
            </a:r>
            <a:r>
              <a:rPr/>
              <a:t> </a:t>
            </a:r>
            <a:r>
              <a:rPr/>
              <a:t>generator</a:t>
            </a:r>
            <a:r>
              <a:rPr/>
              <a:t> </a:t>
            </a:r>
            <a:r>
              <a:rPr/>
              <a:t>allowance</a:t>
            </a:r>
            <a:r>
              <a:rPr/>
              <a:t> </a:t>
            </a:r>
            <a:r>
              <a:rPr/>
              <a:t>$1.00,</a:t>
            </a:r>
            <a:r>
              <a:rPr/>
              <a:t> </a:t>
            </a:r>
            <a:r>
              <a:rPr/>
              <a:t>different</a:t>
            </a:r>
            <a:r>
              <a:rPr/>
              <a:t> </a:t>
            </a:r>
            <a:r>
              <a:rPr/>
              <a:t>stopping</a:t>
            </a:r>
            <a:r>
              <a:rPr/>
              <a:t> </a:t>
            </a:r>
            <a:r>
              <a:rPr/>
              <a:t>semantics.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assign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numerical</a:t>
            </a:r>
            <a:r>
              <a:rPr/>
              <a:t> </a:t>
            </a:r>
            <a:r>
              <a:rPr/>
              <a:t>share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six-solve</a:t>
            </a:r>
            <a:r>
              <a:rPr/>
              <a:t> </a:t>
            </a:r>
            <a:r>
              <a:rPr/>
              <a:t>gap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controller,</a:t>
            </a:r>
            <a:r>
              <a:rPr/>
              <a:t> </a:t>
            </a:r>
            <a:r>
              <a:rPr/>
              <a:t>compression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sampling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matched</a:t>
            </a:r>
            <a:r>
              <a:rPr/>
              <a:t> </a:t>
            </a:r>
            <a:r>
              <a:rPr/>
              <a:t>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bars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additive</a:t>
            </a:r>
            <a:r>
              <a:rPr/>
              <a:t> </a:t>
            </a:r>
            <a:r>
              <a:rPr/>
              <a:t>costs,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learning</a:t>
            </a:r>
            <a:r>
              <a:rPr/>
              <a:t> </a:t>
            </a:r>
            <a:r>
              <a:rPr/>
              <a:t>curve.</a:t>
            </a:r>
            <a:r>
              <a:rPr/>
              <a:t> </a:t>
            </a:r>
            <a:r>
              <a:rPr/>
              <a:t>Luna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size</a:t>
            </a:r>
            <a:r>
              <a:rPr/>
              <a:t> </a:t>
            </a:r>
            <a:r>
              <a:rPr/>
              <a:t>2103</a:t>
            </a:r>
            <a:r>
              <a:rPr/>
              <a:t> </a:t>
            </a:r>
            <a:r>
              <a:rPr/>
              <a:t>estimated</a:t>
            </a:r>
            <a:r>
              <a:rPr/>
              <a:t> </a:t>
            </a:r>
            <a:r>
              <a:rPr/>
              <a:t>tokens;</a:t>
            </a:r>
            <a:r>
              <a:rPr/>
              <a:t> </a:t>
            </a:r>
            <a:r>
              <a:rPr/>
              <a:t>Terra</a:t>
            </a:r>
            <a:r>
              <a:rPr/>
              <a:t> </a:t>
            </a:r>
            <a:r>
              <a:rPr/>
              <a:t>2426.</a:t>
            </a:r>
            <a:r>
              <a:rPr/>
              <a:t> </a:t>
            </a:r>
            <a:r>
              <a:rPr/>
              <a:t>Breakeven</a:t>
            </a:r>
            <a:r>
              <a:rPr/>
              <a:t> </a:t>
            </a:r>
            <a:r>
              <a:rPr/>
              <a:t>uses</a:t>
            </a:r>
            <a:r>
              <a:rPr/>
              <a:t> </a:t>
            </a:r>
            <a:r>
              <a:rPr/>
              <a:t>assumed</a:t>
            </a:r>
            <a:r>
              <a:rPr/>
              <a:t> </a:t>
            </a:r>
            <a:r>
              <a:rPr/>
              <a:t>future</a:t>
            </a:r>
            <a:r>
              <a:rPr/>
              <a:t> </a:t>
            </a:r>
            <a:r>
              <a:rPr/>
              <a:t>workloads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belongs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backup</a:t>
            </a:r>
            <a:r>
              <a:rPr/>
              <a:t> </a:t>
            </a:r>
            <a:r>
              <a:rPr/>
              <a:t>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model-specific</a:t>
            </a:r>
            <a:r>
              <a:rPr/>
              <a:t> </a:t>
            </a:r>
            <a:r>
              <a:rPr/>
              <a:t>dollar</a:t>
            </a:r>
            <a:r>
              <a:rPr/>
              <a:t> </a:t>
            </a:r>
            <a:r>
              <a:rPr/>
              <a:t>scales</a:t>
            </a:r>
            <a:r>
              <a:rPr/>
              <a:t> </a:t>
            </a:r>
            <a:r>
              <a:rPr/>
              <a:t>avoid</a:t>
            </a:r>
            <a:r>
              <a:rPr/>
              <a:t> </a:t>
            </a:r>
            <a:r>
              <a:rPr/>
              <a:t>squeezing</a:t>
            </a:r>
            <a:r>
              <a:rPr/>
              <a:t> </a:t>
            </a:r>
            <a:r>
              <a:rPr/>
              <a:t>Luna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unreadable</a:t>
            </a:r>
            <a:r>
              <a:rPr/>
              <a:t> </a:t>
            </a:r>
            <a:r>
              <a:rPr/>
              <a:t>sliver.</a:t>
            </a:r>
            <a:r>
              <a:rPr/>
              <a:t> </a:t>
            </a:r>
            <a:r>
              <a:rPr/>
              <a:t>Step</a:t>
            </a:r>
            <a:r>
              <a:rPr/>
              <a:t> </a:t>
            </a:r>
            <a:r>
              <a:rPr/>
              <a:t>plots</a:t>
            </a:r>
            <a:r>
              <a:rPr/>
              <a:t> </a:t>
            </a:r>
            <a:r>
              <a:rPr/>
              <a:t>preserve</a:t>
            </a:r>
            <a:r>
              <a:rPr/>
              <a:t> </a:t>
            </a:r>
            <a:r>
              <a:rPr/>
              <a:t>discrete</a:t>
            </a:r>
            <a:r>
              <a:rPr/>
              <a:t> </a:t>
            </a:r>
            <a:r>
              <a:rPr/>
              <a:t>solve</a:t>
            </a:r>
            <a:r>
              <a:rPr/>
              <a:t> </a:t>
            </a:r>
            <a:r>
              <a:rPr/>
              <a:t>increments.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smooth</a:t>
            </a:r>
            <a:r>
              <a:rPr/>
              <a:t> </a:t>
            </a:r>
            <a:r>
              <a:rPr/>
              <a:t>these</a:t>
            </a:r>
            <a:r>
              <a:rPr/>
              <a:t> </a:t>
            </a:r>
            <a:r>
              <a:rPr/>
              <a:t>observations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imply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order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optimized</a:t>
            </a:r>
            <a:r>
              <a:rPr/>
              <a:t> </a:t>
            </a:r>
            <a:r>
              <a:rPr/>
              <a:t>execution</a:t>
            </a:r>
            <a:r>
              <a:rPr/>
              <a:t> </a:t>
            </a:r>
            <a:r>
              <a:rPr/>
              <a:t>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counterfactual</a:t>
            </a:r>
            <a:r>
              <a:rPr/>
              <a:t> </a:t>
            </a:r>
            <a:r>
              <a:rPr/>
              <a:t>reprices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trajectories;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rerun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models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change</a:t>
            </a:r>
            <a:r>
              <a:rPr/>
              <a:t> </a:t>
            </a:r>
            <a:r>
              <a:rPr/>
              <a:t>admission</a:t>
            </a:r>
            <a:r>
              <a:rPr/>
              <a:t> </a:t>
            </a:r>
            <a:r>
              <a:rPr/>
              <a:t>behavior.</a:t>
            </a:r>
            <a:r>
              <a:rPr/>
              <a:t> </a:t>
            </a:r>
            <a:r>
              <a:rPr/>
              <a:t>Bar</a:t>
            </a:r>
            <a:r>
              <a:rPr/>
              <a:t> </a:t>
            </a:r>
            <a:r>
              <a:rPr/>
              <a:t>pairs</a:t>
            </a:r>
            <a:r>
              <a:rPr/>
              <a:t> </a:t>
            </a:r>
            <a:r>
              <a:rPr/>
              <a:t>deliberately</a:t>
            </a:r>
            <a:r>
              <a:rPr/>
              <a:t> </a:t>
            </a:r>
            <a:r>
              <a:rPr/>
              <a:t>replace</a:t>
            </a:r>
            <a:r>
              <a:rPr/>
              <a:t> </a:t>
            </a:r>
            <a:r>
              <a:rPr/>
              <a:t>straight-line</a:t>
            </a:r>
            <a:r>
              <a:rPr/>
              <a:t> </a:t>
            </a:r>
            <a:r>
              <a:rPr/>
              <a:t>trajectories</a:t>
            </a:r>
            <a:r>
              <a:rPr/>
              <a:t> </a:t>
            </a:r>
            <a:r>
              <a:rPr/>
              <a:t>between</a:t>
            </a:r>
            <a:r>
              <a:rPr/>
              <a:t> </a:t>
            </a:r>
            <a:r>
              <a:rPr/>
              <a:t>unrelated</a:t>
            </a:r>
            <a:r>
              <a:rPr/>
              <a:t> </a:t>
            </a:r>
            <a:r>
              <a:rPr/>
              <a:t>price</a:t>
            </a:r>
            <a:r>
              <a:rPr/>
              <a:t> </a:t>
            </a:r>
            <a:r>
              <a:rPr/>
              <a:t>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Terminal</a:t>
            </a:r>
            <a:r>
              <a:rPr/>
              <a:t> </a:t>
            </a:r>
            <a:r>
              <a:rPr/>
              <a:t>witness:</a:t>
            </a:r>
            <a:r>
              <a:rPr/>
              <a:t> </a:t>
            </a:r>
            <a:r>
              <a:rPr/>
              <a:t>amc12_2000_p6.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missing-text</a:t>
            </a:r>
            <a:r>
              <a:rPr/>
              <a:t> </a:t>
            </a:r>
            <a:r>
              <a:rPr/>
              <a:t>flag</a:t>
            </a:r>
            <a:r>
              <a:rPr/>
              <a:t> </a:t>
            </a:r>
            <a:r>
              <a:rPr/>
              <a:t>alone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prove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affected</a:t>
            </a:r>
            <a:r>
              <a:rPr/>
              <a:t> </a:t>
            </a:r>
            <a:r>
              <a:rPr/>
              <a:t>training</a:t>
            </a:r>
            <a:r>
              <a:rPr/>
              <a:t> </a:t>
            </a:r>
            <a:r>
              <a:rPr/>
              <a:t>lesson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wrong.</a:t>
            </a:r>
            <a:r>
              <a:rPr/>
              <a:t> </a:t>
            </a:r>
            <a:r>
              <a:rPr/>
              <a:t>Syntax</a:t>
            </a:r>
            <a:r>
              <a:rPr/>
              <a:t> </a:t>
            </a:r>
            <a:r>
              <a:rPr/>
              <a:t>acceptance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theorem</a:t>
            </a:r>
            <a:r>
              <a:rPr/>
              <a:t> </a:t>
            </a:r>
            <a:r>
              <a:rPr/>
              <a:t>success;</a:t>
            </a:r>
            <a:r>
              <a:rPr/>
              <a:t> </a:t>
            </a:r>
            <a:r>
              <a:rPr/>
              <a:t>exposure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causal</a:t>
            </a:r>
            <a:r>
              <a:rPr/>
              <a:t> </a:t>
            </a:r>
            <a:r>
              <a:rPr/>
              <a:t>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</a:t>
            </a:r>
            <a:r>
              <a:rPr/>
              <a:t> </a:t>
            </a:r>
            <a:r>
              <a:rPr/>
              <a:t>=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ACE;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=</a:t>
            </a:r>
            <a:r>
              <a:rPr/>
              <a:t> </a:t>
            </a:r>
            <a:r>
              <a:rPr/>
              <a:t>corrected</a:t>
            </a:r>
            <a:r>
              <a:rPr/>
              <a:t> </a:t>
            </a:r>
            <a:r>
              <a:rPr/>
              <a:t>own-book</a:t>
            </a:r>
            <a:r>
              <a:rPr/>
              <a:t> </a:t>
            </a:r>
            <a:r>
              <a:rPr/>
              <a:t>context.</a:t>
            </a:r>
            <a:r>
              <a:rPr/>
              <a:t> </a:t>
            </a:r>
            <a:r>
              <a:rPr/>
              <a:t>Level</a:t>
            </a:r>
            <a:r>
              <a:rPr/>
              <a:t> </a:t>
            </a:r>
            <a:r>
              <a:rPr/>
              <a:t>0</a:t>
            </a:r>
            <a:r>
              <a:rPr/>
              <a:t> </a:t>
            </a:r>
            <a:r>
              <a:rPr/>
              <a:t>caps</a:t>
            </a:r>
            <a:r>
              <a:rPr/>
              <a:t> </a:t>
            </a:r>
            <a:r>
              <a:rPr/>
              <a:t>Luna</a:t>
            </a:r>
            <a:r>
              <a:rPr/>
              <a:t> </a:t>
            </a:r>
            <a:r>
              <a:rPr/>
              <a:t>$0.10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Terra</a:t>
            </a:r>
            <a:r>
              <a:rPr/>
              <a:t> </a:t>
            </a:r>
            <a:r>
              <a:rPr/>
              <a:t>$1.00.</a:t>
            </a:r>
            <a:r>
              <a:rPr/>
              <a:t> </a:t>
            </a:r>
            <a:r>
              <a:rPr/>
              <a:t>Level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doubles</a:t>
            </a:r>
            <a:r>
              <a:rPr/>
              <a:t> </a:t>
            </a:r>
            <a:r>
              <a:rPr/>
              <a:t>money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$0.20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$2.00</a:t>
            </a:r>
            <a:r>
              <a:rPr/>
              <a:t> </a:t>
            </a:r>
            <a:r>
              <a:rPr/>
              <a:t>while</a:t>
            </a:r>
            <a:r>
              <a:rPr/>
              <a:t> </a:t>
            </a:r>
            <a:r>
              <a:rPr/>
              <a:t>retaining</a:t>
            </a:r>
            <a:r>
              <a:rPr/>
              <a:t> </a:t>
            </a:r>
            <a:r>
              <a:rPr/>
              <a:t>64</a:t>
            </a:r>
            <a:r>
              <a:rPr/>
              <a:t> </a:t>
            </a:r>
            <a:r>
              <a:rPr/>
              <a:t>requests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300s.</a:t>
            </a:r>
            <a:r>
              <a:rPr/>
              <a:t> </a:t>
            </a:r>
            <a:r>
              <a:rPr/>
              <a:t>Level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retains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money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gives</a:t>
            </a:r>
            <a:r>
              <a:rPr/>
              <a:t> </a:t>
            </a:r>
            <a:r>
              <a:rPr/>
              <a:t>128</a:t>
            </a:r>
            <a:r>
              <a:rPr/>
              <a:t> </a:t>
            </a:r>
            <a:r>
              <a:rPr/>
              <a:t>requests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600s.</a:t>
            </a:r>
            <a:r>
              <a:rPr/>
              <a:t> </a:t>
            </a:r>
            <a:r>
              <a:rPr/>
              <a:t>Costs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backups</a:t>
            </a:r>
            <a:r>
              <a:rPr/>
              <a:t> </a:t>
            </a:r>
            <a:r>
              <a:rPr/>
              <a:t>include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prefix</a:t>
            </a:r>
            <a:r>
              <a:rPr/>
              <a:t> </a:t>
            </a:r>
            <a:r>
              <a:rPr/>
              <a:t>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These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historical</a:t>
            </a:r>
            <a:r>
              <a:rPr/>
              <a:t> </a:t>
            </a:r>
            <a:r>
              <a:rPr/>
              <a:t>seed-0</a:t>
            </a:r>
            <a:r>
              <a:rPr/>
              <a:t> </a:t>
            </a:r>
            <a:r>
              <a:rPr/>
              <a:t>controls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fresh</a:t>
            </a:r>
            <a:r>
              <a:rPr/>
              <a:t> </a:t>
            </a:r>
            <a:r>
              <a:rPr/>
              <a:t>candidate</a:t>
            </a:r>
            <a:r>
              <a:rPr/>
              <a:t> </a:t>
            </a:r>
            <a:r>
              <a:rPr/>
              <a:t>trajectories.</a:t>
            </a:r>
            <a:r>
              <a:rPr/>
              <a:t> </a:t>
            </a:r>
            <a:r>
              <a:rPr/>
              <a:t>Validation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reused</a:t>
            </a:r>
            <a:r>
              <a:rPr/>
              <a:t> </a:t>
            </a:r>
            <a:r>
              <a:rPr/>
              <a:t>development</a:t>
            </a:r>
            <a:r>
              <a:rPr/>
              <a:t> </a:t>
            </a:r>
            <a:r>
              <a:rPr/>
              <a:t>data.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frozen</a:t>
            </a:r>
            <a:r>
              <a:rPr/>
              <a:t> </a:t>
            </a:r>
            <a:r>
              <a:rPr/>
              <a:t>book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unchanged.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cap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model-response</a:t>
            </a:r>
            <a:r>
              <a:rPr/>
              <a:t> </a:t>
            </a:r>
            <a:r>
              <a:rPr/>
              <a:t>limit</a:t>
            </a:r>
            <a:r>
              <a:rPr/>
              <a:t> </a:t>
            </a:r>
            <a:r>
              <a:rPr/>
              <a:t>including</a:t>
            </a:r>
            <a:r>
              <a:rPr/>
              <a:t> </a:t>
            </a:r>
            <a:r>
              <a:rPr/>
              <a:t>reasoning,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visible</a:t>
            </a:r>
            <a:r>
              <a:rPr/>
              <a:t> </a:t>
            </a:r>
            <a:r>
              <a:rPr/>
              <a:t>proof</a:t>
            </a:r>
            <a:r>
              <a:rPr/>
              <a:t> </a:t>
            </a:r>
            <a:r>
              <a:rPr/>
              <a:t>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assessment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inspected</a:t>
            </a:r>
            <a:r>
              <a:rPr/>
              <a:t> </a:t>
            </a:r>
            <a:r>
              <a:rPr/>
              <a:t>configuration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history,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proof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complete</a:t>
            </a:r>
            <a:r>
              <a:rPr/>
              <a:t> </a:t>
            </a:r>
            <a:r>
              <a:rPr/>
              <a:t>behavioral</a:t>
            </a:r>
            <a:r>
              <a:rPr/>
              <a:t> </a:t>
            </a:r>
            <a:r>
              <a:rPr/>
              <a:t>equivalence.</a:t>
            </a:r>
            <a:r>
              <a:rPr/>
              <a:t> </a:t>
            </a:r>
            <a:r>
              <a:rPr/>
              <a:t>Raw</a:t>
            </a:r>
            <a:r>
              <a:rPr/>
              <a:t> </a:t>
            </a:r>
            <a:r>
              <a:rPr/>
              <a:t>BoundedConfig</a:t>
            </a:r>
            <a:r>
              <a:rPr/>
              <a:t> </a:t>
            </a:r>
            <a:r>
              <a:rPr/>
              <a:t>defaults</a:t>
            </a:r>
            <a:r>
              <a:rPr/>
              <a:t> </a:t>
            </a:r>
            <a:r>
              <a:rPr/>
              <a:t>differ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reference’s</a:t>
            </a:r>
            <a:r>
              <a:rPr/>
              <a:t> </a:t>
            </a:r>
            <a:r>
              <a:rPr/>
              <a:t>explicit</a:t>
            </a:r>
            <a:r>
              <a:rPr/>
              <a:t> </a:t>
            </a:r>
            <a:r>
              <a:rPr/>
              <a:t>admission=False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restart=False</a:t>
            </a:r>
            <a:r>
              <a:rPr/>
              <a:t> </a:t>
            </a:r>
            <a:r>
              <a:rPr/>
              <a:t>settings.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changed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preparing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Close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decisions,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promise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active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work</a:t>
            </a:r>
            <a:r>
              <a:rPr/>
              <a:t> </a:t>
            </a:r>
            <a:r>
              <a:rPr/>
              <a:t>will</a:t>
            </a:r>
            <a:r>
              <a:rPr/>
              <a:t> </a:t>
            </a:r>
            <a:r>
              <a:rPr/>
              <a:t>succeed.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original</a:t>
            </a:r>
            <a:r>
              <a:rPr/>
              <a:t> </a:t>
            </a:r>
            <a:r>
              <a:rPr/>
              <a:t>$30</a:t>
            </a:r>
            <a:r>
              <a:rPr/>
              <a:t> </a:t>
            </a:r>
            <a:r>
              <a:rPr/>
              <a:t>proposal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begun;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completed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cycle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already</a:t>
            </a:r>
            <a:r>
              <a:rPr/>
              <a:t> </a:t>
            </a:r>
            <a:r>
              <a:rPr/>
              <a:t>included.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budget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experiment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requested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Exact</a:t>
            </a:r>
            <a:r>
              <a:rPr/>
              <a:t> </a:t>
            </a:r>
            <a:r>
              <a:rPr/>
              <a:t>source:</a:t>
            </a:r>
            <a:r>
              <a:rPr/>
              <a:t> </a:t>
            </a:r>
            <a:r>
              <a:rPr/>
              <a:t>report/ace_retrospective/data/crossover.csv.</a:t>
            </a:r>
            <a:r>
              <a:rPr/>
              <a:t> </a:t>
            </a:r>
            <a:r>
              <a:rPr/>
              <a:t>Own-book</a:t>
            </a:r>
            <a:r>
              <a:rPr/>
              <a:t> </a:t>
            </a:r>
            <a:r>
              <a:rPr/>
              <a:t>p-values:</a:t>
            </a:r>
            <a:r>
              <a:rPr/>
              <a:t> </a:t>
            </a:r>
            <a:r>
              <a:rPr/>
              <a:t>Luna</a:t>
            </a:r>
            <a:r>
              <a:rPr/>
              <a:t> </a:t>
            </a:r>
            <a:r>
              <a:rPr/>
              <a:t>0.25;</a:t>
            </a:r>
            <a:r>
              <a:rPr/>
              <a:t> </a:t>
            </a:r>
            <a:r>
              <a:rPr/>
              <a:t>Terra</a:t>
            </a:r>
            <a:r>
              <a:rPr/>
              <a:t> </a:t>
            </a:r>
            <a:r>
              <a:rPr/>
              <a:t>1.0.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crossover</a:t>
            </a:r>
            <a:r>
              <a:rPr/>
              <a:t> </a:t>
            </a:r>
            <a:r>
              <a:rPr/>
              <a:t>tests</a:t>
            </a:r>
            <a:r>
              <a:rPr/>
              <a:t> </a:t>
            </a:r>
            <a:r>
              <a:rPr/>
              <a:t>solver/book</a:t>
            </a:r>
            <a:r>
              <a:rPr/>
              <a:t> </a:t>
            </a:r>
            <a:r>
              <a:rPr/>
              <a:t>combinations,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general</a:t>
            </a:r>
            <a:r>
              <a:rPr/>
              <a:t> </a:t>
            </a:r>
            <a:r>
              <a:rPr/>
              <a:t>scaling</a:t>
            </a:r>
            <a:r>
              <a:rPr/>
              <a:t> </a:t>
            </a:r>
            <a:r>
              <a:rPr/>
              <a:t>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Directly</a:t>
            </a:r>
            <a:r>
              <a:rPr/>
              <a:t> </a:t>
            </a:r>
            <a:r>
              <a:rPr/>
              <a:t>labeled</a:t>
            </a:r>
            <a:r>
              <a:rPr/>
              <a:t> </a:t>
            </a:r>
            <a:r>
              <a:rPr/>
              <a:t>horizontal</a:t>
            </a:r>
            <a:r>
              <a:rPr/>
              <a:t> </a:t>
            </a:r>
            <a:r>
              <a:rPr/>
              <a:t>bars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categorical</a:t>
            </a:r>
            <a:r>
              <a:rPr/>
              <a:t> </a:t>
            </a:r>
            <a:r>
              <a:rPr/>
              <a:t>treatments.</a:t>
            </a:r>
            <a:r>
              <a:rPr/>
              <a:t> </a:t>
            </a:r>
            <a:r>
              <a:rPr/>
              <a:t>Bills</a:t>
            </a:r>
            <a:r>
              <a:rPr/>
              <a:t> </a:t>
            </a:r>
            <a:r>
              <a:rPr/>
              <a:t>were</a:t>
            </a:r>
            <a:r>
              <a:rPr/>
              <a:t> </a:t>
            </a:r>
            <a:r>
              <a:rPr/>
              <a:t>repriced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tokens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audited</a:t>
            </a:r>
            <a:r>
              <a:rPr/>
              <a:t> </a:t>
            </a:r>
            <a:r>
              <a:rPr/>
              <a:t>snapshot;</a:t>
            </a:r>
            <a:r>
              <a:rPr/>
              <a:t> </a:t>
            </a:r>
            <a:r>
              <a:rPr/>
              <a:t>they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guaranteed</a:t>
            </a:r>
            <a:r>
              <a:rPr/>
              <a:t> </a:t>
            </a:r>
            <a:r>
              <a:rPr/>
              <a:t>complete</a:t>
            </a:r>
            <a:r>
              <a:rPr/>
              <a:t> </a:t>
            </a:r>
            <a:r>
              <a:rPr/>
              <a:t>historical</a:t>
            </a:r>
            <a:r>
              <a:rPr/>
              <a:t> </a:t>
            </a:r>
            <a:r>
              <a:rPr/>
              <a:t>retry</a:t>
            </a:r>
            <a:r>
              <a:rPr/>
              <a:t> </a:t>
            </a:r>
            <a:r>
              <a:rPr/>
              <a:t>receipts.</a:t>
            </a:r>
            <a:r>
              <a:rPr/>
              <a:t> </a:t>
            </a:r>
            <a:r>
              <a:rPr/>
              <a:t>Incomplete</a:t>
            </a:r>
            <a:r>
              <a:rPr/>
              <a:t> </a:t>
            </a:r>
            <a:r>
              <a:rPr/>
              <a:t>arms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excluded,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silently</a:t>
            </a:r>
            <a:r>
              <a:rPr/>
              <a:t> </a:t>
            </a:r>
            <a:r>
              <a:rPr/>
              <a:t>counted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Illustrative</a:t>
            </a:r>
            <a:r>
              <a:rPr/>
              <a:t> </a:t>
            </a:r>
            <a:r>
              <a:rPr/>
              <a:t>recorded</a:t>
            </a:r>
            <a:r>
              <a:rPr/>
              <a:t> </a:t>
            </a:r>
            <a:r>
              <a:rPr/>
              <a:t>continuation:</a:t>
            </a:r>
            <a:r>
              <a:rPr/>
              <a:t> </a:t>
            </a:r>
            <a:r>
              <a:rPr/>
              <a:t>remaining</a:t>
            </a:r>
            <a:r>
              <a:rPr/>
              <a:t> </a:t>
            </a:r>
            <a:r>
              <a:rPr/>
              <a:t>$0.085742,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reservation</a:t>
            </a:r>
            <a:r>
              <a:rPr/>
              <a:t> </a:t>
            </a:r>
            <a:r>
              <a:rPr/>
              <a:t>$0.086368.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$0.000626</a:t>
            </a:r>
            <a:r>
              <a:rPr/>
              <a:t> </a:t>
            </a:r>
            <a:r>
              <a:rPr/>
              <a:t>over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balance.</a:t>
            </a:r>
            <a:r>
              <a:rPr/>
              <a:t> </a:t>
            </a:r>
            <a:r>
              <a:rPr/>
              <a:t>File:</a:t>
            </a:r>
            <a:r>
              <a:rPr/>
              <a:t> </a:t>
            </a:r>
            <a:r>
              <a:rPr/>
              <a:t>runtime/campaign_budget.py,</a:t>
            </a:r>
            <a:r>
              <a:rPr/>
              <a:t> </a:t>
            </a:r>
            <a:r>
              <a:rPr/>
              <a:t>CampaignResponsesModel.estimate_budget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Ledger.reserve.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make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reservations</a:t>
            </a:r>
            <a:r>
              <a:rPr/>
              <a:t> </a:t>
            </a:r>
            <a:r>
              <a:rPr/>
              <a:t>unsafe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admit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Break-even</a:t>
            </a:r>
            <a:r>
              <a:rPr/>
              <a:t> </a:t>
            </a:r>
            <a:r>
              <a:rPr/>
              <a:t>=</a:t>
            </a:r>
            <a:r>
              <a:rPr/>
              <a:t> </a:t>
            </a:r>
            <a:r>
              <a:rPr/>
              <a:t>known</a:t>
            </a:r>
            <a:r>
              <a:rPr/>
              <a:t> </a:t>
            </a:r>
            <a:r>
              <a:rPr/>
              <a:t>preparation</a:t>
            </a:r>
            <a:r>
              <a:rPr/>
              <a:t> </a:t>
            </a:r>
            <a:r>
              <a:rPr/>
              <a:t>cost</a:t>
            </a:r>
            <a:r>
              <a:rPr/>
              <a:t> </a:t>
            </a:r>
            <a:r>
              <a:rPr/>
              <a:t>divided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observed</a:t>
            </a:r>
            <a:r>
              <a:rPr/>
              <a:t> </a:t>
            </a:r>
            <a:r>
              <a:rPr/>
              <a:t>per-attempt</a:t>
            </a:r>
            <a:r>
              <a:rPr/>
              <a:t> </a:t>
            </a:r>
            <a:r>
              <a:rPr/>
              <a:t>inference</a:t>
            </a:r>
            <a:r>
              <a:rPr/>
              <a:t> </a:t>
            </a:r>
            <a:r>
              <a:rPr/>
              <a:t>saving.</a:t>
            </a:r>
            <a:r>
              <a:rPr/>
              <a:t> </a:t>
            </a:r>
            <a:r>
              <a:rPr/>
              <a:t>Values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rounded</a:t>
            </a:r>
            <a:r>
              <a:rPr/>
              <a:t> </a:t>
            </a:r>
            <a:r>
              <a:rPr/>
              <a:t>upward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whole</a:t>
            </a:r>
            <a:r>
              <a:rPr/>
              <a:t> </a:t>
            </a:r>
            <a:r>
              <a:rPr/>
              <a:t>attempted</a:t>
            </a:r>
            <a:r>
              <a:rPr/>
              <a:t> </a:t>
            </a:r>
            <a:r>
              <a:rPr/>
              <a:t>tasks.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extrapolated</a:t>
            </a:r>
            <a:r>
              <a:rPr/>
              <a:t> </a:t>
            </a:r>
            <a:r>
              <a:rPr/>
              <a:t>straight-line</a:t>
            </a:r>
            <a:r>
              <a:rPr/>
              <a:t> </a:t>
            </a:r>
            <a:r>
              <a:rPr/>
              <a:t>chart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needed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convey</a:t>
            </a:r>
            <a:r>
              <a:rPr/>
              <a:t> </a:t>
            </a:r>
            <a:r>
              <a:rPr/>
              <a:t>these</a:t>
            </a:r>
            <a:r>
              <a:rPr/>
              <a:t> </a:t>
            </a:r>
            <a:r>
              <a:rPr/>
              <a:t>conditional</a:t>
            </a:r>
            <a:r>
              <a:rPr/>
              <a:t> </a:t>
            </a:r>
            <a:r>
              <a:rPr/>
              <a:t>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Other</a:t>
            </a:r>
            <a:r>
              <a:rPr/>
              <a:t> </a:t>
            </a:r>
            <a:r>
              <a:rPr/>
              <a:t>fields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paths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rehearsal_excerpts.md.</a:t>
            </a:r>
            <a:r>
              <a:rPr/>
              <a:t> </a:t>
            </a:r>
            <a:r>
              <a:rPr/>
              <a:t>Seven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33</a:t>
            </a:r>
            <a:r>
              <a:rPr/>
              <a:t> </a:t>
            </a:r>
            <a:r>
              <a:rPr/>
              <a:t>source</a:t>
            </a:r>
            <a:r>
              <a:rPr/>
              <a:t> </a:t>
            </a:r>
            <a:r>
              <a:rPr/>
              <a:t>successes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missing</a:t>
            </a:r>
            <a:r>
              <a:rPr/>
              <a:t> </a:t>
            </a:r>
            <a:r>
              <a:rPr/>
              <a:t>terminal-tactic</a:t>
            </a:r>
            <a:r>
              <a:rPr/>
              <a:t> </a:t>
            </a:r>
            <a:r>
              <a:rPr/>
              <a:t>text</a:t>
            </a:r>
            <a:r>
              <a:rPr/>
              <a:t> </a:t>
            </a:r>
            <a:r>
              <a:rPr/>
              <a:t>flag;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seven</a:t>
            </a:r>
            <a:r>
              <a:rPr/>
              <a:t> </a:t>
            </a:r>
            <a:r>
              <a:rPr/>
              <a:t>established</a:t>
            </a:r>
            <a:r>
              <a:rPr/>
              <a:t> </a:t>
            </a:r>
            <a:r>
              <a:rPr/>
              <a:t>identical</a:t>
            </a:r>
            <a:r>
              <a:rPr/>
              <a:t> </a:t>
            </a:r>
            <a:r>
              <a:rPr/>
              <a:t>causal</a:t>
            </a:r>
            <a:r>
              <a:rPr/>
              <a:t> </a:t>
            </a:r>
            <a:r>
              <a:rPr/>
              <a:t>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Five</a:t>
            </a:r>
            <a:r>
              <a:rPr/>
              <a:t> </a:t>
            </a:r>
            <a:r>
              <a:rPr/>
              <a:t>independent</a:t>
            </a:r>
            <a:r>
              <a:rPr/>
              <a:t> </a:t>
            </a:r>
            <a:r>
              <a:rPr/>
              <a:t>all-favorable</a:t>
            </a:r>
            <a:r>
              <a:rPr/>
              <a:t> </a:t>
            </a:r>
            <a:r>
              <a:rPr/>
              <a:t>discordances</a:t>
            </a:r>
            <a:r>
              <a:rPr/>
              <a:t> </a:t>
            </a:r>
            <a:r>
              <a:rPr/>
              <a:t>give</a:t>
            </a:r>
            <a:r>
              <a:rPr/>
              <a:t> </a:t>
            </a:r>
            <a:r>
              <a:rPr/>
              <a:t>exact</a:t>
            </a:r>
            <a:r>
              <a:rPr/>
              <a:t> </a:t>
            </a:r>
            <a:r>
              <a:rPr/>
              <a:t>two-sided</a:t>
            </a:r>
            <a:r>
              <a:rPr/>
              <a:t> </a:t>
            </a:r>
            <a:r>
              <a:rPr/>
              <a:t>p=0.0625.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minimum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attainable</a:t>
            </a:r>
            <a:r>
              <a:rPr/>
              <a:t> </a:t>
            </a:r>
            <a:r>
              <a:rPr/>
              <a:t>significance,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power</a:t>
            </a:r>
            <a:r>
              <a:rPr/>
              <a:t> </a:t>
            </a:r>
            <a:r>
              <a:rPr/>
              <a:t>calculation.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samples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historical</a:t>
            </a:r>
            <a:r>
              <a:rPr/>
              <a:t> </a:t>
            </a:r>
            <a:r>
              <a:rPr/>
              <a:t>controls</a:t>
            </a:r>
            <a:r>
              <a:rPr/>
              <a:t> </a:t>
            </a:r>
            <a:r>
              <a:rPr/>
              <a:t>warrant</a:t>
            </a:r>
            <a:r>
              <a:rPr/>
              <a:t> </a:t>
            </a:r>
            <a:r>
              <a:rPr/>
              <a:t>restrained</a:t>
            </a:r>
            <a:r>
              <a:rPr/>
              <a:t> </a:t>
            </a:r>
            <a:r>
              <a:rPr/>
              <a:t>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short</a:t>
            </a:r>
            <a:r>
              <a:rPr/>
              <a:t> </a:t>
            </a:r>
            <a:r>
              <a:rPr/>
              <a:t>presentation</a:t>
            </a:r>
            <a:r>
              <a:rPr/>
              <a:t> </a:t>
            </a:r>
            <a:r>
              <a:rPr/>
              <a:t>route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checklist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advisor_rehearsal.md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advisor_rehearsal.pdf.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older</a:t>
            </a:r>
            <a:r>
              <a:rPr/>
              <a:t> </a:t>
            </a:r>
            <a:r>
              <a:rPr/>
              <a:t>rehearsal_notes</a:t>
            </a:r>
            <a:r>
              <a:rPr/>
              <a:t> </a:t>
            </a:r>
            <a:r>
              <a:rPr/>
              <a:t>files</a:t>
            </a:r>
            <a:r>
              <a:rPr/>
              <a:t> </a:t>
            </a:r>
            <a:r>
              <a:rPr/>
              <a:t>describe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previous</a:t>
            </a:r>
            <a:r>
              <a:rPr/>
              <a:t> </a:t>
            </a:r>
            <a:r>
              <a:rPr/>
              <a:t>sixteen-slide</a:t>
            </a:r>
            <a:r>
              <a:rPr/>
              <a:t> </a:t>
            </a:r>
            <a:r>
              <a:rPr/>
              <a:t>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1.png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2.png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3.png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.png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.png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6.png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7.png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C3B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BCD0D6"/>
                </a:solidFill>
                <a:latin typeface="DejaVu Sans"/>
                <a:ea typeface="DejaVu Sans"/>
              </a:rPr>
              <a:t>OMPHALOS  /  RESEARCH UPDATE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BCD0D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6" name="Shape 6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BCD0D6"/>
                </a:solidFill>
                <a:latin typeface="DejaVu Sans"/>
                <a:ea typeface="DejaVu Sans"/>
              </a:rPr>
              <a:t>01</a:t>
            </a:r>
            <a:endParaRPr lang="en-US" sz="1200"/>
          </a:p>
        </p:txBody>
      </p:sp>
      <p:sp>
        <p:nvSpPr>
          <p:cNvPr id="7" name="Shape 7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375262"/>
          </a:solidFill>
          <a:ln w="7000"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E8C38D"/>
                </a:solidFill>
                <a:latin typeface="DejaVu Sans"/>
                <a:ea typeface="DejaVu Sans"/>
              </a:rPr>
              <a:t>Strong control result; modest ACE signal; concrete explanations for lost opportunity.</a:t>
            </a:r>
            <a:endParaRPr lang="en-US" sz="1450"/>
          </a:p>
        </p:txBody>
      </p:sp>
      <p:sp>
        <p:nvSpPr>
          <p:cNvPr id="9" name="Shape 9"/>
          <p:cNvSpPr txBox="1"/>
          <p:nvPr/>
        </p:nvSpPr>
        <p:spPr>
          <a:xfrm>
            <a:off x="603504" y="1024128"/>
            <a:ext cx="10607040" cy="116128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4000" b="1">
                <a:solidFill>
                  <a:srgbClr val="FFFFFF"/>
                </a:solidFill>
                <a:latin typeface="DejaVu Sans"/>
                <a:ea typeface="DejaVu Sans"/>
              </a:rPr>
              <a:t>ACE, control and the cost of a proof</a:t>
            </a:r>
            <a:endParaRPr lang="en-US" sz="4000"/>
          </a:p>
        </p:txBody>
      </p:sp>
      <p:sp>
        <p:nvSpPr>
          <p:cNvPr id="10" name="Shape 10"/>
          <p:cNvSpPr txBox="1"/>
          <p:nvPr/>
        </p:nvSpPr>
        <p:spPr>
          <a:xfrm>
            <a:off x="640080" y="2313432"/>
            <a:ext cx="1051560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0">
                <a:solidFill>
                  <a:srgbClr val="BCD0D6"/>
                </a:solidFill>
                <a:latin typeface="DejaVu Sans"/>
                <a:ea typeface="DejaVu Sans"/>
              </a:rPr>
              <a:t>Omphalos / Delphyne / miniF2F in Rocq</a:t>
            </a:r>
            <a:endParaRPr lang="en-US" sz="2000"/>
          </a:p>
        </p:txBody>
      </p:sp>
      <p:sp>
        <p:nvSpPr>
          <p:cNvPr id="11" name="Shape 11"/>
          <p:cNvSpPr txBox="1"/>
          <p:nvPr/>
        </p:nvSpPr>
        <p:spPr>
          <a:xfrm>
            <a:off x="603504" y="2971800"/>
            <a:ext cx="3520440" cy="1920240"/>
          </a:xfrm>
          <a:prstGeom prst="roundRect">
            <a:avLst>
              <a:gd name="adj" fmla="val 6500"/>
            </a:avLst>
          </a:prstGeom>
          <a:solidFill>
            <a:srgbClr val="233F5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86384" y="3154680"/>
            <a:ext cx="3154680" cy="63093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500" b="1">
                <a:solidFill>
                  <a:srgbClr val="E8C38D"/>
                </a:solidFill>
                <a:latin typeface="DejaVu Sans"/>
                <a:ea typeface="DejaVu Sans"/>
              </a:rPr>
              <a:t>−55.5%</a:t>
            </a:r>
            <a:endParaRPr lang="en-US" sz="3500"/>
          </a:p>
        </p:txBody>
      </p:sp>
      <p:sp>
        <p:nvSpPr>
          <p:cNvPr id="13" name="Shape 13"/>
          <p:cNvSpPr txBox="1"/>
          <p:nvPr/>
        </p:nvSpPr>
        <p:spPr>
          <a:xfrm>
            <a:off x="786384" y="3813048"/>
            <a:ext cx="3154680" cy="32918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50" b="1">
                <a:solidFill>
                  <a:srgbClr val="FFFFFF"/>
                </a:solidFill>
                <a:latin typeface="DejaVu Sans"/>
                <a:ea typeface="DejaVu Sans"/>
              </a:rPr>
              <a:t>spending</a:t>
            </a:r>
            <a:endParaRPr lang="en-US" sz="1750"/>
          </a:p>
        </p:txBody>
      </p:sp>
      <p:sp>
        <p:nvSpPr>
          <p:cNvPr id="14" name="Shape 14"/>
          <p:cNvSpPr txBox="1"/>
          <p:nvPr/>
        </p:nvSpPr>
        <p:spPr>
          <a:xfrm>
            <a:off x="786384" y="4242816"/>
            <a:ext cx="315468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300" b="0">
                <a:solidFill>
                  <a:srgbClr val="E0E8E9"/>
                </a:solidFill>
                <a:latin typeface="DejaVu Sans"/>
                <a:ea typeface="DejaVu Sans"/>
              </a:rPr>
              <a:t>Accepted bounded-control trade-off; 28 → 25 validation solves.</a:t>
            </a:r>
            <a:endParaRPr lang="en-US" sz="1300"/>
          </a:p>
        </p:txBody>
      </p:sp>
      <p:sp>
        <p:nvSpPr>
          <p:cNvPr id="15" name="Shape 15"/>
          <p:cNvSpPr txBox="1"/>
          <p:nvPr/>
        </p:nvSpPr>
        <p:spPr>
          <a:xfrm>
            <a:off x="4370832" y="2971800"/>
            <a:ext cx="3520440" cy="1920240"/>
          </a:xfrm>
          <a:prstGeom prst="roundRect">
            <a:avLst>
              <a:gd name="adj" fmla="val 6500"/>
            </a:avLst>
          </a:prstGeom>
          <a:solidFill>
            <a:srgbClr val="233F50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4553712" y="3154680"/>
            <a:ext cx="3154680" cy="63093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500" b="1">
                <a:solidFill>
                  <a:srgbClr val="E8C38D"/>
                </a:solidFill>
                <a:latin typeface="DejaVu Sans"/>
                <a:ea typeface="DejaVu Sans"/>
              </a:rPr>
              <a:t>+3 / 40</a:t>
            </a:r>
            <a:endParaRPr lang="en-US" sz="3500"/>
          </a:p>
        </p:txBody>
      </p:sp>
      <p:sp>
        <p:nvSpPr>
          <p:cNvPr id="17" name="Shape 17"/>
          <p:cNvSpPr txBox="1"/>
          <p:nvPr/>
        </p:nvSpPr>
        <p:spPr>
          <a:xfrm>
            <a:off x="4553712" y="3813048"/>
            <a:ext cx="3154680" cy="32918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50" b="1">
                <a:solidFill>
                  <a:srgbClr val="FFFFFF"/>
                </a:solidFill>
                <a:latin typeface="DejaVu Sans"/>
                <a:ea typeface="DejaVu Sans"/>
              </a:rPr>
              <a:t>Luna ACE increment</a:t>
            </a:r>
            <a:endParaRPr lang="en-US" sz="1750"/>
          </a:p>
        </p:txBody>
      </p:sp>
      <p:sp>
        <p:nvSpPr>
          <p:cNvPr id="18" name="Shape 18"/>
          <p:cNvSpPr txBox="1"/>
          <p:nvPr/>
        </p:nvSpPr>
        <p:spPr>
          <a:xfrm>
            <a:off x="4553712" y="4242816"/>
            <a:ext cx="315468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325" b="0">
                <a:solidFill>
                  <a:srgbClr val="E0E8E9"/>
                </a:solidFill>
                <a:latin typeface="DejaVu Sans"/>
                <a:ea typeface="DejaVu Sans"/>
              </a:rPr>
              <a:t>Matched development comparison; encouraging, p = 0.25.</a:t>
            </a:r>
            <a:endParaRPr lang="en-US" sz="1325"/>
          </a:p>
        </p:txBody>
      </p:sp>
      <p:sp>
        <p:nvSpPr>
          <p:cNvPr id="19" name="Shape 19"/>
          <p:cNvSpPr txBox="1"/>
          <p:nvPr/>
        </p:nvSpPr>
        <p:spPr>
          <a:xfrm>
            <a:off x="8138160" y="2971800"/>
            <a:ext cx="3520440" cy="1920240"/>
          </a:xfrm>
          <a:prstGeom prst="roundRect">
            <a:avLst>
              <a:gd name="adj" fmla="val 6500"/>
            </a:avLst>
          </a:prstGeom>
          <a:solidFill>
            <a:srgbClr val="233F5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8321040" y="3154680"/>
            <a:ext cx="3154680" cy="63093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500" b="1">
                <a:solidFill>
                  <a:srgbClr val="E8C38D"/>
                </a:solidFill>
                <a:latin typeface="DejaVu Sans"/>
                <a:ea typeface="DejaVu Sans"/>
              </a:rPr>
              <a:t>38 / 40</a:t>
            </a:r>
            <a:endParaRPr lang="en-US" sz="3500"/>
          </a:p>
        </p:txBody>
      </p:sp>
      <p:sp>
        <p:nvSpPr>
          <p:cNvPr id="21" name="Shape 21"/>
          <p:cNvSpPr txBox="1"/>
          <p:nvPr/>
        </p:nvSpPr>
        <p:spPr>
          <a:xfrm>
            <a:off x="8321040" y="3813048"/>
            <a:ext cx="3154680" cy="32918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50" b="1">
                <a:solidFill>
                  <a:srgbClr val="FFFFFF"/>
                </a:solidFill>
                <a:latin typeface="DejaVu Sans"/>
                <a:ea typeface="DejaVu Sans"/>
              </a:rPr>
              <a:t>Terra during learning</a:t>
            </a:r>
            <a:endParaRPr lang="en-US" sz="1750"/>
          </a:p>
        </p:txBody>
      </p:sp>
      <p:sp>
        <p:nvSpPr>
          <p:cNvPr id="22" name="Shape 22"/>
          <p:cNvSpPr txBox="1"/>
          <p:nvPr/>
        </p:nvSpPr>
        <p:spPr>
          <a:xfrm>
            <a:off x="8321040" y="4242816"/>
            <a:ext cx="315468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300" b="0">
                <a:solidFill>
                  <a:srgbClr val="E0E8E9"/>
                </a:solidFill>
                <a:latin typeface="DejaVu Sans"/>
                <a:ea typeface="DejaVu Sans"/>
              </a:rPr>
              <a:t>Training generation; later frozen evaluation uses a different controller.</a:t>
            </a:r>
            <a:endParaRPr lang="en-US" sz="1300"/>
          </a:p>
        </p:txBody>
      </p:sp>
      <p:sp>
        <p:nvSpPr>
          <p:cNvPr id="23" name="Shape 23"/>
          <p:cNvSpPr txBox="1"/>
          <p:nvPr/>
        </p:nvSpPr>
        <p:spPr>
          <a:xfrm>
            <a:off x="713232" y="5148072"/>
            <a:ext cx="10789920" cy="6675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750" b="1">
                <a:solidFill>
                  <a:srgbClr val="FFFFFF"/>
                </a:solidFill>
                <a:latin typeface="DejaVu Sans"/>
                <a:ea typeface="DejaVu Sans"/>
              </a:rPr>
              <a:t>Thesis contribution:</a:t>
            </a:r>
            <a:r>
              <a:rPr lang="en-US" sz="1750" b="0">
                <a:solidFill>
                  <a:srgbClr val="FFFFFF"/>
                </a:solidFill>
                <a:latin typeface="DejaVu Sans"/>
                <a:ea typeface="DejaVu Sans"/>
              </a:rPr>
              <a:t> economical, verifiable search through Delphyne.</a:t>
            </a:r>
            <a:endParaRPr lang="en-US" sz="1750"/>
          </a:p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750" b="1">
                <a:solidFill>
                  <a:srgbClr val="FFFFFF"/>
                </a:solidFill>
                <a:latin typeface="DejaVu Sans"/>
                <a:ea typeface="DejaVu Sans"/>
              </a:rPr>
              <a:t>Main question:</a:t>
            </a:r>
            <a:r>
              <a:rPr lang="en-US" sz="1750" b="0">
                <a:solidFill>
                  <a:srgbClr val="FFFFFF"/>
                </a:solidFill>
                <a:latin typeface="DejaVu Sans"/>
                <a:ea typeface="DejaVu Sans"/>
              </a:rPr>
              <a:t> which improvements survive the entire path to a checked proof?</a:t>
            </a:r>
            <a:endParaRPr lang="en-US" sz="1750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READING GUIDE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The questions this update answers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02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Separate implementation fidelity, local correctness, coverage and economic value.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566928" y="1755648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7724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Is ACE implemented?</a:t>
            </a:r>
            <a:endParaRPr lang="en-US" sz="2000"/>
          </a:p>
        </p:txBody>
      </p:sp>
      <p:sp>
        <p:nvSpPr>
          <p:cNvPr id="13" name="Shape 13"/>
          <p:cNvSpPr txBox="1"/>
          <p:nvPr/>
        </p:nvSpPr>
        <p:spPr>
          <a:xfrm>
            <a:off x="77724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Yes: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Generator, Reflector, Curator and persistent playbook.</a:t>
            </a:r>
            <a:endParaRPr lang="en-US" sz="18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Local additions: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batched Reducer, checked evidence and budget controls.</a:t>
            </a:r>
            <a:endParaRPr lang="en-US" sz="1800"/>
          </a:p>
        </p:txBody>
      </p:sp>
      <p:sp>
        <p:nvSpPr>
          <p:cNvPr id="14" name="Shape 14"/>
          <p:cNvSpPr txBox="1"/>
          <p:nvPr/>
        </p:nvSpPr>
        <p:spPr>
          <a:xfrm>
            <a:off x="623620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236208" y="1755648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44652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Did it improve coverage?</a:t>
            </a:r>
            <a:endParaRPr lang="en-US" sz="2000"/>
          </a:p>
        </p:txBody>
      </p:sp>
      <p:sp>
        <p:nvSpPr>
          <p:cNvPr id="17" name="Shape 17"/>
          <p:cNvSpPr txBox="1"/>
          <p:nvPr/>
        </p:nvSpPr>
        <p:spPr>
          <a:xfrm>
            <a:off x="644652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25" b="1">
                <a:solidFill>
                  <a:srgbClr val="223D4A"/>
                </a:solidFill>
                <a:latin typeface="DejaVu Sans"/>
                <a:ea typeface="DejaVu Sans"/>
              </a:rPr>
              <a:t>Luna:</a:t>
            </a:r>
            <a:r>
              <a:rPr lang="en-US" sz="1825" b="0">
                <a:solidFill>
                  <a:srgbClr val="223D4A"/>
                </a:solidFill>
                <a:latin typeface="DejaVu Sans"/>
                <a:ea typeface="DejaVu Sans"/>
              </a:rPr>
              <a:t> 24 → 27/40 in the matched validation comparison.</a:t>
            </a:r>
            <a:endParaRPr lang="en-US" sz="1825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25" b="1">
                <a:solidFill>
                  <a:srgbClr val="223D4A"/>
                </a:solidFill>
                <a:latin typeface="DejaVu Sans"/>
                <a:ea typeface="DejaVu Sans"/>
              </a:rPr>
              <a:t>Uncertain:</a:t>
            </a:r>
            <a:r>
              <a:rPr lang="en-US" sz="1825" b="0">
                <a:solidFill>
                  <a:srgbClr val="223D4A"/>
                </a:solidFill>
                <a:latin typeface="DejaVu Sans"/>
                <a:ea typeface="DejaVu Sans"/>
              </a:rPr>
              <a:t> three gains; too little evidence for a supported general gain.</a:t>
            </a:r>
            <a:endParaRPr lang="en-US" sz="1825"/>
          </a:p>
        </p:txBody>
      </p:sp>
      <p:sp>
        <p:nvSpPr>
          <p:cNvPr id="18" name="Shape 18"/>
          <p:cNvSpPr txBox="1"/>
          <p:nvPr/>
        </p:nvSpPr>
        <p:spPr>
          <a:xfrm>
            <a:off x="56692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66928" y="3977640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7724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50" b="1">
                <a:solidFill>
                  <a:srgbClr val="007E80"/>
                </a:solidFill>
                <a:latin typeface="DejaVu Sans"/>
                <a:ea typeface="DejaVu Sans"/>
              </a:rPr>
              <a:t>Does a stronger model unlock ACE?</a:t>
            </a:r>
            <a:endParaRPr lang="en-US" sz="1850"/>
          </a:p>
        </p:txBody>
      </p:sp>
      <p:sp>
        <p:nvSpPr>
          <p:cNvPr id="21" name="Shape 21"/>
          <p:cNvSpPr txBox="1"/>
          <p:nvPr/>
        </p:nvSpPr>
        <p:spPr>
          <a:xfrm>
            <a:off x="77724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Terra solves more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without a book.</a:t>
            </a:r>
            <a:endParaRPr lang="en-US" sz="19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ACE increment stays small: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+0 with Luna’s book, +1 with its own.</a:t>
            </a:r>
            <a:endParaRPr lang="en-US" sz="1900"/>
          </a:p>
        </p:txBody>
      </p:sp>
      <p:sp>
        <p:nvSpPr>
          <p:cNvPr id="22" name="Shape 22"/>
          <p:cNvSpPr txBox="1"/>
          <p:nvPr/>
        </p:nvSpPr>
        <p:spPr>
          <a:xfrm>
            <a:off x="623620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236208" y="3977640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644652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What is worth retaining?</a:t>
            </a:r>
            <a:endParaRPr lang="en-US" sz="2000"/>
          </a:p>
        </p:txBody>
      </p:sp>
      <p:sp>
        <p:nvSpPr>
          <p:cNvPr id="25" name="Shape 25"/>
          <p:cNvSpPr txBox="1"/>
          <p:nvPr/>
        </p:nvSpPr>
        <p:spPr>
          <a:xfrm>
            <a:off x="644652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Budget trade-offs and reliable evidence.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Failed candidates stay optional;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common controller limitations remain.</a:t>
            </a:r>
            <a:endParaRPr lang="en-US" sz="1850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IMPLEMENTATION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Our ACE loop, in one slide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03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The Reducer is a local batching component; the deterministic merge owns the stored state.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640080" y="1609344"/>
            <a:ext cx="3438144" cy="125272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804672" y="1719072"/>
            <a:ext cx="374904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00" b="1">
                <a:solidFill>
                  <a:srgbClr val="007E80"/>
                </a:solidFill>
                <a:latin typeface="DejaVu Sans"/>
                <a:ea typeface="DejaVu Sans"/>
              </a:rPr>
              <a:t>01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1289304" y="1719072"/>
            <a:ext cx="2606040" cy="38404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Generator</a:t>
            </a:r>
            <a:endParaRPr lang="en-US" sz="2100"/>
          </a:p>
        </p:txBody>
      </p:sp>
      <p:sp>
        <p:nvSpPr>
          <p:cNvPr id="13" name="Shape 13"/>
          <p:cNvSpPr txBox="1"/>
          <p:nvPr/>
        </p:nvSpPr>
        <p:spPr>
          <a:xfrm>
            <a:off x="1289304" y="2212848"/>
            <a:ext cx="260604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Propose a proof</a:t>
            </a:r>
            <a:br/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using the current book</a:t>
            </a:r>
            <a:endParaRPr lang="en-US" sz="1700"/>
          </a:p>
        </p:txBody>
      </p:sp>
      <p:sp>
        <p:nvSpPr>
          <p:cNvPr id="14" name="Shape 14"/>
          <p:cNvSpPr txBox="1"/>
          <p:nvPr/>
        </p:nvSpPr>
        <p:spPr>
          <a:xfrm>
            <a:off x="4142232" y="2075688"/>
            <a:ext cx="292608" cy="34747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400" b="0">
                <a:solidFill>
                  <a:srgbClr val="007E80"/>
                </a:solidFill>
                <a:latin typeface="DejaVu Sans"/>
                <a:ea typeface="DejaVu Sans"/>
              </a:rPr>
              <a:t>→</a:t>
            </a:r>
            <a:endParaRPr lang="en-US" sz="2400"/>
          </a:p>
        </p:txBody>
      </p:sp>
      <p:sp>
        <p:nvSpPr>
          <p:cNvPr id="15" name="Shape 15"/>
          <p:cNvSpPr txBox="1"/>
          <p:nvPr/>
        </p:nvSpPr>
        <p:spPr>
          <a:xfrm>
            <a:off x="4462272" y="1609344"/>
            <a:ext cx="3438144" cy="125272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4626864" y="1719072"/>
            <a:ext cx="374904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00" b="1">
                <a:solidFill>
                  <a:srgbClr val="007E80"/>
                </a:solidFill>
                <a:latin typeface="DejaVu Sans"/>
                <a:ea typeface="DejaVu Sans"/>
              </a:rPr>
              <a:t>02</a:t>
            </a:r>
            <a:endParaRPr lang="en-US" sz="1900"/>
          </a:p>
        </p:txBody>
      </p:sp>
      <p:sp>
        <p:nvSpPr>
          <p:cNvPr id="17" name="Shape 17"/>
          <p:cNvSpPr txBox="1"/>
          <p:nvPr/>
        </p:nvSpPr>
        <p:spPr>
          <a:xfrm>
            <a:off x="5111496" y="1719072"/>
            <a:ext cx="2606040" cy="38404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Rocq feedback</a:t>
            </a:r>
            <a:endParaRPr lang="en-US" sz="2100"/>
          </a:p>
        </p:txBody>
      </p:sp>
      <p:sp>
        <p:nvSpPr>
          <p:cNvPr id="18" name="Shape 18"/>
          <p:cNvSpPr txBox="1"/>
          <p:nvPr/>
        </p:nvSpPr>
        <p:spPr>
          <a:xfrm>
            <a:off x="5111496" y="2212848"/>
            <a:ext cx="260604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600" b="0">
                <a:solidFill>
                  <a:srgbClr val="223D4A"/>
                </a:solidFill>
                <a:latin typeface="DejaVu Sans"/>
                <a:ea typeface="DejaVu Sans"/>
              </a:rPr>
              <a:t>Execute and check</a:t>
            </a:r>
            <a:br/>
            <a:r>
              <a:rPr lang="en-US" sz="1600" b="0">
                <a:solidFill>
                  <a:srgbClr val="223D4A"/>
                </a:solidFill>
                <a:latin typeface="DejaVu Sans"/>
                <a:ea typeface="DejaVu Sans"/>
              </a:rPr>
              <a:t>what actually happened</a:t>
            </a:r>
            <a:endParaRPr lang="en-US" sz="1600"/>
          </a:p>
        </p:txBody>
      </p:sp>
      <p:sp>
        <p:nvSpPr>
          <p:cNvPr id="19" name="Shape 19"/>
          <p:cNvSpPr txBox="1"/>
          <p:nvPr/>
        </p:nvSpPr>
        <p:spPr>
          <a:xfrm>
            <a:off x="7964424" y="2075688"/>
            <a:ext cx="292608" cy="34747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400" b="0">
                <a:solidFill>
                  <a:srgbClr val="007E80"/>
                </a:solidFill>
                <a:latin typeface="DejaVu Sans"/>
                <a:ea typeface="DejaVu Sans"/>
              </a:rPr>
              <a:t>→</a:t>
            </a:r>
            <a:endParaRPr lang="en-US" sz="2400"/>
          </a:p>
        </p:txBody>
      </p:sp>
      <p:sp>
        <p:nvSpPr>
          <p:cNvPr id="20" name="Shape 20"/>
          <p:cNvSpPr txBox="1"/>
          <p:nvPr/>
        </p:nvSpPr>
        <p:spPr>
          <a:xfrm>
            <a:off x="8284464" y="1609344"/>
            <a:ext cx="3438144" cy="125272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8449056" y="1719072"/>
            <a:ext cx="374904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00" b="1">
                <a:solidFill>
                  <a:srgbClr val="007E80"/>
                </a:solidFill>
                <a:latin typeface="DejaVu Sans"/>
                <a:ea typeface="DejaVu Sans"/>
              </a:rPr>
              <a:t>03</a:t>
            </a:r>
            <a:endParaRPr lang="en-US" sz="1900"/>
          </a:p>
        </p:txBody>
      </p:sp>
      <p:sp>
        <p:nvSpPr>
          <p:cNvPr id="22" name="Shape 22"/>
          <p:cNvSpPr txBox="1"/>
          <p:nvPr/>
        </p:nvSpPr>
        <p:spPr>
          <a:xfrm>
            <a:off x="8933688" y="1719072"/>
            <a:ext cx="2606040" cy="38404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Reflector</a:t>
            </a:r>
            <a:endParaRPr lang="en-US" sz="2100"/>
          </a:p>
        </p:txBody>
      </p:sp>
      <p:sp>
        <p:nvSpPr>
          <p:cNvPr id="23" name="Shape 23"/>
          <p:cNvSpPr txBox="1"/>
          <p:nvPr/>
        </p:nvSpPr>
        <p:spPr>
          <a:xfrm>
            <a:off x="8933688" y="2212848"/>
            <a:ext cx="260604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Diagnose the attempt;</a:t>
            </a:r>
            <a:br/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propose useful lessons</a:t>
            </a:r>
            <a:endParaRPr lang="en-US" sz="1700"/>
          </a:p>
        </p:txBody>
      </p:sp>
      <p:sp>
        <p:nvSpPr>
          <p:cNvPr id="24" name="Shape 24"/>
          <p:cNvSpPr txBox="1"/>
          <p:nvPr/>
        </p:nvSpPr>
        <p:spPr>
          <a:xfrm>
            <a:off x="640080" y="3099816"/>
            <a:ext cx="3438144" cy="125272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804672" y="3209544"/>
            <a:ext cx="374904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00" b="1">
                <a:solidFill>
                  <a:srgbClr val="007E80"/>
                </a:solidFill>
                <a:latin typeface="DejaVu Sans"/>
                <a:ea typeface="DejaVu Sans"/>
              </a:rPr>
              <a:t>04</a:t>
            </a:r>
            <a:endParaRPr lang="en-US" sz="1900"/>
          </a:p>
        </p:txBody>
      </p:sp>
      <p:sp>
        <p:nvSpPr>
          <p:cNvPr id="26" name="Shape 26"/>
          <p:cNvSpPr txBox="1"/>
          <p:nvPr/>
        </p:nvSpPr>
        <p:spPr>
          <a:xfrm>
            <a:off x="1289304" y="3209544"/>
            <a:ext cx="2606040" cy="38404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Curator</a:t>
            </a:r>
            <a:endParaRPr lang="en-US" sz="2100"/>
          </a:p>
        </p:txBody>
      </p:sp>
      <p:sp>
        <p:nvSpPr>
          <p:cNvPr id="27" name="Shape 27"/>
          <p:cNvSpPr txBox="1"/>
          <p:nvPr/>
        </p:nvSpPr>
        <p:spPr>
          <a:xfrm>
            <a:off x="1289304" y="3703320"/>
            <a:ext cx="260604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Propose structured</a:t>
            </a:r>
            <a:br/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playbook changes</a:t>
            </a:r>
            <a:endParaRPr lang="en-US" sz="1700"/>
          </a:p>
        </p:txBody>
      </p:sp>
      <p:sp>
        <p:nvSpPr>
          <p:cNvPr id="28" name="Shape 28"/>
          <p:cNvSpPr txBox="1"/>
          <p:nvPr/>
        </p:nvSpPr>
        <p:spPr>
          <a:xfrm>
            <a:off x="4142232" y="3566160"/>
            <a:ext cx="292608" cy="34747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400" b="0">
                <a:solidFill>
                  <a:srgbClr val="007E80"/>
                </a:solidFill>
                <a:latin typeface="DejaVu Sans"/>
                <a:ea typeface="DejaVu Sans"/>
              </a:rPr>
              <a:t>→</a:t>
            </a:r>
            <a:endParaRPr lang="en-US" sz="2400"/>
          </a:p>
        </p:txBody>
      </p:sp>
      <p:sp>
        <p:nvSpPr>
          <p:cNvPr id="29" name="Shape 29"/>
          <p:cNvSpPr txBox="1"/>
          <p:nvPr/>
        </p:nvSpPr>
        <p:spPr>
          <a:xfrm>
            <a:off x="4462272" y="3099816"/>
            <a:ext cx="3438144" cy="125272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30" name="Shape 30"/>
          <p:cNvSpPr txBox="1"/>
          <p:nvPr/>
        </p:nvSpPr>
        <p:spPr>
          <a:xfrm>
            <a:off x="4626864" y="3209544"/>
            <a:ext cx="374904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00" b="1">
                <a:solidFill>
                  <a:srgbClr val="007E80"/>
                </a:solidFill>
                <a:latin typeface="DejaVu Sans"/>
                <a:ea typeface="DejaVu Sans"/>
              </a:rPr>
              <a:t>05</a:t>
            </a:r>
            <a:endParaRPr lang="en-US" sz="1900"/>
          </a:p>
        </p:txBody>
      </p:sp>
      <p:sp>
        <p:nvSpPr>
          <p:cNvPr id="31" name="Shape 31"/>
          <p:cNvSpPr txBox="1"/>
          <p:nvPr/>
        </p:nvSpPr>
        <p:spPr>
          <a:xfrm>
            <a:off x="5111496" y="3209544"/>
            <a:ext cx="2606040" cy="38404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Reducer</a:t>
            </a:r>
            <a:endParaRPr lang="en-US" sz="2100"/>
          </a:p>
        </p:txBody>
      </p:sp>
      <p:sp>
        <p:nvSpPr>
          <p:cNvPr id="32" name="Shape 32"/>
          <p:cNvSpPr txBox="1"/>
          <p:nvPr/>
        </p:nvSpPr>
        <p:spPr>
          <a:xfrm>
            <a:off x="5111496" y="3703320"/>
            <a:ext cx="260604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Select / combine</a:t>
            </a:r>
            <a:br/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batched proposals</a:t>
            </a:r>
            <a:endParaRPr lang="en-US" sz="1700"/>
          </a:p>
        </p:txBody>
      </p:sp>
      <p:sp>
        <p:nvSpPr>
          <p:cNvPr id="33" name="Shape 33"/>
          <p:cNvSpPr txBox="1"/>
          <p:nvPr/>
        </p:nvSpPr>
        <p:spPr>
          <a:xfrm>
            <a:off x="7964424" y="3566160"/>
            <a:ext cx="292608" cy="34747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400" b="0">
                <a:solidFill>
                  <a:srgbClr val="007E80"/>
                </a:solidFill>
                <a:latin typeface="DejaVu Sans"/>
                <a:ea typeface="DejaVu Sans"/>
              </a:rPr>
              <a:t>→</a:t>
            </a:r>
            <a:endParaRPr lang="en-US" sz="2400"/>
          </a:p>
        </p:txBody>
      </p:sp>
      <p:sp>
        <p:nvSpPr>
          <p:cNvPr id="34" name="Shape 34"/>
          <p:cNvSpPr txBox="1"/>
          <p:nvPr/>
        </p:nvSpPr>
        <p:spPr>
          <a:xfrm>
            <a:off x="8284464" y="3099816"/>
            <a:ext cx="3438144" cy="125272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35" name="Shape 35"/>
          <p:cNvSpPr txBox="1"/>
          <p:nvPr/>
        </p:nvSpPr>
        <p:spPr>
          <a:xfrm>
            <a:off x="8449056" y="3209544"/>
            <a:ext cx="374904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00" b="1">
                <a:solidFill>
                  <a:srgbClr val="007E80"/>
                </a:solidFill>
                <a:latin typeface="DejaVu Sans"/>
                <a:ea typeface="DejaVu Sans"/>
              </a:rPr>
              <a:t>06</a:t>
            </a:r>
            <a:endParaRPr lang="en-US" sz="1900"/>
          </a:p>
        </p:txBody>
      </p:sp>
      <p:sp>
        <p:nvSpPr>
          <p:cNvPr id="36" name="Shape 36"/>
          <p:cNvSpPr txBox="1"/>
          <p:nvPr/>
        </p:nvSpPr>
        <p:spPr>
          <a:xfrm>
            <a:off x="8933688" y="3209544"/>
            <a:ext cx="2606040" cy="38404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Merge + store</a:t>
            </a:r>
            <a:endParaRPr lang="en-US" sz="2100"/>
          </a:p>
        </p:txBody>
      </p:sp>
      <p:sp>
        <p:nvSpPr>
          <p:cNvPr id="37" name="Shape 37"/>
          <p:cNvSpPr txBox="1"/>
          <p:nvPr/>
        </p:nvSpPr>
        <p:spPr>
          <a:xfrm>
            <a:off x="8933688" y="3703320"/>
            <a:ext cx="2606040" cy="5394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Deterministic update;</a:t>
            </a:r>
            <a:br/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hash the next book</a:t>
            </a:r>
            <a:endParaRPr lang="en-US" sz="1700"/>
          </a:p>
        </p:txBody>
      </p:sp>
      <p:sp>
        <p:nvSpPr>
          <p:cNvPr id="38" name="Shape 38"/>
          <p:cNvSpPr txBox="1"/>
          <p:nvPr/>
        </p:nvSpPr>
        <p:spPr>
          <a:xfrm>
            <a:off x="777240" y="4727448"/>
            <a:ext cx="10698480" cy="10789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Training: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the book evolves between batches; no model weights are updated.</a:t>
            </a:r>
            <a:endParaRPr lang="en-US" sz="18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Evaluation: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the selected book is frozen; each proof has its own resource allowance.</a:t>
            </a:r>
            <a:endParaRPr lang="en-US" sz="18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Delphyne: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strategies describe choices; policies choose models, search and spending.</a:t>
            </a:r>
            <a:endParaRPr lang="en-US" sz="1800"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IMPLEMENTATION / NAVIGATION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Where each ACE element lives in the code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04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All paths are relative to examples/omphalos; search by symbol because active code can move lines.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12435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ACE element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2139696" y="1655064"/>
            <a:ext cx="416966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Delphyne strategy / query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6528816" y="1655064"/>
            <a:ext cx="499262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File to open · then search symbol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566928" y="2194560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676656" y="2244852"/>
            <a:ext cx="12435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Generator</a:t>
            </a:r>
            <a:endParaRPr lang="en-US" sz="1700"/>
          </a:p>
        </p:txBody>
      </p:sp>
      <p:sp>
        <p:nvSpPr>
          <p:cNvPr id="16" name="Shape 16"/>
          <p:cNvSpPr txBox="1"/>
          <p:nvPr/>
        </p:nvSpPr>
        <p:spPr>
          <a:xfrm>
            <a:off x="2139696" y="2244852"/>
            <a:ext cx="416966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prove_theorem_ace / ProposeProofScriptACE</a:t>
            </a:r>
            <a:endParaRPr lang="en-US" sz="1700"/>
          </a:p>
        </p:txBody>
      </p:sp>
      <p:sp>
        <p:nvSpPr>
          <p:cNvPr id="17" name="Shape 17"/>
          <p:cNvSpPr txBox="1"/>
          <p:nvPr/>
        </p:nvSpPr>
        <p:spPr>
          <a:xfrm>
            <a:off x="6528816" y="2244852"/>
            <a:ext cx="499262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prove_ace.py</a:t>
            </a:r>
            <a:endParaRPr lang="en-US" sz="1700"/>
          </a:p>
        </p:txBody>
      </p:sp>
      <p:sp>
        <p:nvSpPr>
          <p:cNvPr id="18" name="Shape 18"/>
          <p:cNvSpPr txBox="1"/>
          <p:nvPr/>
        </p:nvSpPr>
        <p:spPr>
          <a:xfrm>
            <a:off x="566928" y="2799588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76656" y="2849880"/>
            <a:ext cx="12435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Reflector</a:t>
            </a:r>
            <a:endParaRPr lang="en-US" sz="1700"/>
          </a:p>
        </p:txBody>
      </p:sp>
      <p:sp>
        <p:nvSpPr>
          <p:cNvPr id="20" name="Shape 20"/>
          <p:cNvSpPr txBox="1"/>
          <p:nvPr/>
        </p:nvSpPr>
        <p:spPr>
          <a:xfrm>
            <a:off x="2139696" y="2849880"/>
            <a:ext cx="416966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reflect_on_trajectory / ReflectOnTrajectory</a:t>
            </a:r>
            <a:endParaRPr lang="en-US" sz="1700"/>
          </a:p>
        </p:txBody>
      </p:sp>
      <p:sp>
        <p:nvSpPr>
          <p:cNvPr id="21" name="Shape 21"/>
          <p:cNvSpPr txBox="1"/>
          <p:nvPr/>
        </p:nvSpPr>
        <p:spPr>
          <a:xfrm>
            <a:off x="6528816" y="2849880"/>
            <a:ext cx="499262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prove_ace.py</a:t>
            </a:r>
            <a:endParaRPr lang="en-US" sz="1700"/>
          </a:p>
        </p:txBody>
      </p:sp>
      <p:sp>
        <p:nvSpPr>
          <p:cNvPr id="22" name="Shape 22"/>
          <p:cNvSpPr txBox="1"/>
          <p:nvPr/>
        </p:nvSpPr>
        <p:spPr>
          <a:xfrm>
            <a:off x="566928" y="3404616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676656" y="3454908"/>
            <a:ext cx="12435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Curator</a:t>
            </a:r>
            <a:endParaRPr lang="en-US" sz="1700"/>
          </a:p>
        </p:txBody>
      </p:sp>
      <p:sp>
        <p:nvSpPr>
          <p:cNvPr id="24" name="Shape 24"/>
          <p:cNvSpPr txBox="1"/>
          <p:nvPr/>
        </p:nvSpPr>
        <p:spPr>
          <a:xfrm>
            <a:off x="2139696" y="3454908"/>
            <a:ext cx="416966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curate_playbook / CuratePlaybook</a:t>
            </a:r>
            <a:endParaRPr lang="en-US" sz="1700"/>
          </a:p>
        </p:txBody>
      </p:sp>
      <p:sp>
        <p:nvSpPr>
          <p:cNvPr id="25" name="Shape 25"/>
          <p:cNvSpPr txBox="1"/>
          <p:nvPr/>
        </p:nvSpPr>
        <p:spPr>
          <a:xfrm>
            <a:off x="6528816" y="3454908"/>
            <a:ext cx="499262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prove_ace.py</a:t>
            </a:r>
            <a:endParaRPr lang="en-US" sz="1700"/>
          </a:p>
        </p:txBody>
      </p:sp>
      <p:sp>
        <p:nvSpPr>
          <p:cNvPr id="26" name="Shape 26"/>
          <p:cNvSpPr txBox="1"/>
          <p:nvPr/>
        </p:nvSpPr>
        <p:spPr>
          <a:xfrm>
            <a:off x="566928" y="4009644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676656" y="4059936"/>
            <a:ext cx="12435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Reducer</a:t>
            </a:r>
            <a:endParaRPr lang="en-US" sz="1700"/>
          </a:p>
        </p:txBody>
      </p:sp>
      <p:sp>
        <p:nvSpPr>
          <p:cNvPr id="28" name="Shape 28"/>
          <p:cNvSpPr txBox="1"/>
          <p:nvPr/>
        </p:nvSpPr>
        <p:spPr>
          <a:xfrm>
            <a:off x="2139696" y="4059936"/>
            <a:ext cx="416966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aggregate_curation_deltas / AggregateCurationDeltas</a:t>
            </a:r>
            <a:endParaRPr lang="en-US" sz="1700"/>
          </a:p>
        </p:txBody>
      </p:sp>
      <p:sp>
        <p:nvSpPr>
          <p:cNvPr id="29" name="Shape 29"/>
          <p:cNvSpPr txBox="1"/>
          <p:nvPr/>
        </p:nvSpPr>
        <p:spPr>
          <a:xfrm>
            <a:off x="6528816" y="4059936"/>
            <a:ext cx="499262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prove_ace.py</a:t>
            </a:r>
            <a:endParaRPr lang="en-US" sz="1700"/>
          </a:p>
        </p:txBody>
      </p:sp>
      <p:sp>
        <p:nvSpPr>
          <p:cNvPr id="30" name="Shape 30"/>
          <p:cNvSpPr txBox="1"/>
          <p:nvPr/>
        </p:nvSpPr>
        <p:spPr>
          <a:xfrm>
            <a:off x="566928" y="4614672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76656" y="4664964"/>
            <a:ext cx="12435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Book + merge</a:t>
            </a:r>
            <a:endParaRPr lang="en-US" sz="1700"/>
          </a:p>
        </p:txBody>
      </p:sp>
      <p:sp>
        <p:nvSpPr>
          <p:cNvPr id="32" name="Shape 32"/>
          <p:cNvSpPr txBox="1"/>
          <p:nvPr/>
        </p:nvSpPr>
        <p:spPr>
          <a:xfrm>
            <a:off x="2139696" y="4664964"/>
            <a:ext cx="416966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Playbook / merge / refine; PlaybookStore.put</a:t>
            </a:r>
            <a:endParaRPr lang="en-US" sz="1700"/>
          </a:p>
        </p:txBody>
      </p:sp>
      <p:sp>
        <p:nvSpPr>
          <p:cNvPr id="33" name="Shape 33"/>
          <p:cNvSpPr txBox="1"/>
          <p:nvPr/>
        </p:nvSpPr>
        <p:spPr>
          <a:xfrm>
            <a:off x="6528816" y="4664964"/>
            <a:ext cx="499262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ace/ace_playbook.py; ace/ace_store.py</a:t>
            </a:r>
            <a:endParaRPr lang="en-US" sz="1700"/>
          </a:p>
        </p:txBody>
      </p:sp>
      <p:sp>
        <p:nvSpPr>
          <p:cNvPr id="34" name="Shape 34"/>
          <p:cNvSpPr txBox="1"/>
          <p:nvPr/>
        </p:nvSpPr>
        <p:spPr>
          <a:xfrm>
            <a:off x="566928" y="5219700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676656" y="5269992"/>
            <a:ext cx="12435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Driver</a:t>
            </a:r>
            <a:endParaRPr lang="en-US" sz="1700"/>
          </a:p>
        </p:txBody>
      </p:sp>
      <p:sp>
        <p:nvSpPr>
          <p:cNvPr id="36" name="Shape 36"/>
          <p:cNvSpPr txBox="1"/>
          <p:nvPr/>
        </p:nvSpPr>
        <p:spPr>
          <a:xfrm>
            <a:off x="2139696" y="5269992"/>
            <a:ext cx="416966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execute / ACEAdaptStepConfig</a:t>
            </a:r>
            <a:endParaRPr lang="en-US" sz="1700"/>
          </a:p>
        </p:txBody>
      </p:sp>
      <p:sp>
        <p:nvSpPr>
          <p:cNvPr id="37" name="Shape 37"/>
          <p:cNvSpPr txBox="1"/>
          <p:nvPr/>
        </p:nvSpPr>
        <p:spPr>
          <a:xfrm>
            <a:off x="6528816" y="5269992"/>
            <a:ext cx="499262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experiments/ace/ace_adaptation.py</a:t>
            </a:r>
            <a:endParaRPr lang="en-US" sz="1700"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MEASUREMENT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What counts as a solve—and what is capped?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05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A nominal allowance, a request reservation and the eventual bill are different quantities.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252374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Setting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3419856" y="1655064"/>
            <a:ext cx="206654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Dollar allowance / problem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5705856" y="1655064"/>
            <a:ext cx="206654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Requests / verifier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7991856" y="1655064"/>
            <a:ext cx="35295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Interpretation</a:t>
            </a:r>
            <a:endParaRPr lang="en-US" sz="1450"/>
          </a:p>
        </p:txBody>
      </p:sp>
      <p:sp>
        <p:nvSpPr>
          <p:cNvPr id="15" name="Shape 15"/>
          <p:cNvSpPr txBox="1"/>
          <p:nvPr/>
        </p:nvSpPr>
        <p:spPr>
          <a:xfrm>
            <a:off x="566928" y="2194560"/>
            <a:ext cx="11064240" cy="57835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76656" y="2244852"/>
            <a:ext cx="25237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Historical X / Luna</a:t>
            </a:r>
            <a:endParaRPr lang="en-US" sz="1800"/>
          </a:p>
        </p:txBody>
      </p:sp>
      <p:sp>
        <p:nvSpPr>
          <p:cNvPr id="17" name="Shape 17"/>
          <p:cNvSpPr txBox="1"/>
          <p:nvPr/>
        </p:nvSpPr>
        <p:spPr>
          <a:xfrm>
            <a:off x="3419856" y="2244852"/>
            <a:ext cx="20665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$0.10</a:t>
            </a:r>
            <a:endParaRPr lang="en-US" sz="1800"/>
          </a:p>
        </p:txBody>
      </p:sp>
      <p:sp>
        <p:nvSpPr>
          <p:cNvPr id="18" name="Shape 18"/>
          <p:cNvSpPr txBox="1"/>
          <p:nvPr/>
        </p:nvSpPr>
        <p:spPr>
          <a:xfrm>
            <a:off x="5705856" y="2244852"/>
            <a:ext cx="20665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32 requests</a:t>
            </a:r>
            <a:endParaRPr lang="en-US" sz="1800"/>
          </a:p>
        </p:txBody>
      </p:sp>
      <p:sp>
        <p:nvSpPr>
          <p:cNvPr id="19" name="Shape 19"/>
          <p:cNvSpPr txBox="1"/>
          <p:nvPr/>
        </p:nvSpPr>
        <p:spPr>
          <a:xfrm>
            <a:off x="7991856" y="2244852"/>
            <a:ext cx="352958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Older post-crossing stopping</a:t>
            </a:r>
            <a:endParaRPr lang="en-US" sz="1800"/>
          </a:p>
        </p:txBody>
      </p:sp>
      <p:sp>
        <p:nvSpPr>
          <p:cNvPr id="20" name="Shape 20"/>
          <p:cNvSpPr txBox="1"/>
          <p:nvPr/>
        </p:nvSpPr>
        <p:spPr>
          <a:xfrm>
            <a:off x="566928" y="2804922"/>
            <a:ext cx="11064240" cy="578358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1" name="Shape 21"/>
          <p:cNvSpPr txBox="1"/>
          <p:nvPr/>
        </p:nvSpPr>
        <p:spPr>
          <a:xfrm>
            <a:off x="676656" y="2855214"/>
            <a:ext cx="25237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Bounded / Luna</a:t>
            </a:r>
            <a:endParaRPr lang="en-US" sz="1800"/>
          </a:p>
        </p:txBody>
      </p:sp>
      <p:sp>
        <p:nvSpPr>
          <p:cNvPr id="22" name="Shape 22"/>
          <p:cNvSpPr txBox="1"/>
          <p:nvPr/>
        </p:nvSpPr>
        <p:spPr>
          <a:xfrm>
            <a:off x="3419856" y="2855214"/>
            <a:ext cx="20665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$0.10</a:t>
            </a:r>
            <a:endParaRPr lang="en-US" sz="1800"/>
          </a:p>
        </p:txBody>
      </p:sp>
      <p:sp>
        <p:nvSpPr>
          <p:cNvPr id="23" name="Shape 23"/>
          <p:cNvSpPr txBox="1"/>
          <p:nvPr/>
        </p:nvSpPr>
        <p:spPr>
          <a:xfrm>
            <a:off x="5705856" y="2855214"/>
            <a:ext cx="20665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64 / 300 seconds</a:t>
            </a:r>
            <a:endParaRPr lang="en-US" sz="1800"/>
          </a:p>
        </p:txBody>
      </p:sp>
      <p:sp>
        <p:nvSpPr>
          <p:cNvPr id="24" name="Shape 24"/>
          <p:cNvSpPr txBox="1"/>
          <p:nvPr/>
        </p:nvSpPr>
        <p:spPr>
          <a:xfrm>
            <a:off x="7991856" y="2855214"/>
            <a:ext cx="352958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75" b="0">
                <a:solidFill>
                  <a:srgbClr val="223D4A"/>
                </a:solidFill>
                <a:latin typeface="DejaVu Sans"/>
                <a:ea typeface="DejaVu Sans"/>
              </a:rPr>
              <a:t>Conservative pre-request admission</a:t>
            </a:r>
            <a:endParaRPr lang="en-US" sz="1775"/>
          </a:p>
        </p:txBody>
      </p:sp>
      <p:sp>
        <p:nvSpPr>
          <p:cNvPr id="25" name="Shape 25"/>
          <p:cNvSpPr txBox="1"/>
          <p:nvPr/>
        </p:nvSpPr>
        <p:spPr>
          <a:xfrm>
            <a:off x="566928" y="3415284"/>
            <a:ext cx="11064240" cy="57835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676656" y="3465576"/>
            <a:ext cx="25237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Bounded / Terra</a:t>
            </a:r>
            <a:endParaRPr lang="en-US" sz="1800"/>
          </a:p>
        </p:txBody>
      </p:sp>
      <p:sp>
        <p:nvSpPr>
          <p:cNvPr id="27" name="Shape 27"/>
          <p:cNvSpPr txBox="1"/>
          <p:nvPr/>
        </p:nvSpPr>
        <p:spPr>
          <a:xfrm>
            <a:off x="3419856" y="3465576"/>
            <a:ext cx="20665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$1.00</a:t>
            </a:r>
            <a:endParaRPr lang="en-US" sz="1800"/>
          </a:p>
        </p:txBody>
      </p:sp>
      <p:sp>
        <p:nvSpPr>
          <p:cNvPr id="28" name="Shape 28"/>
          <p:cNvSpPr txBox="1"/>
          <p:nvPr/>
        </p:nvSpPr>
        <p:spPr>
          <a:xfrm>
            <a:off x="5705856" y="3465576"/>
            <a:ext cx="20665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64 / 300 seconds</a:t>
            </a:r>
            <a:endParaRPr lang="en-US" sz="1800"/>
          </a:p>
        </p:txBody>
      </p:sp>
      <p:sp>
        <p:nvSpPr>
          <p:cNvPr id="29" name="Shape 29"/>
          <p:cNvSpPr txBox="1"/>
          <p:nvPr/>
        </p:nvSpPr>
        <p:spPr>
          <a:xfrm>
            <a:off x="7991856" y="3465576"/>
            <a:ext cx="352958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75" b="0">
                <a:solidFill>
                  <a:srgbClr val="223D4A"/>
                </a:solidFill>
                <a:latin typeface="DejaVu Sans"/>
                <a:ea typeface="DejaVu Sans"/>
              </a:rPr>
              <a:t>Same controller; recorded tariffs ×10</a:t>
            </a:r>
            <a:endParaRPr lang="en-US" sz="1775"/>
          </a:p>
        </p:txBody>
      </p:sp>
      <p:sp>
        <p:nvSpPr>
          <p:cNvPr id="30" name="Shape 30"/>
          <p:cNvSpPr txBox="1"/>
          <p:nvPr/>
        </p:nvSpPr>
        <p:spPr>
          <a:xfrm>
            <a:off x="566928" y="4025646"/>
            <a:ext cx="11064240" cy="578358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76656" y="4075938"/>
            <a:ext cx="25237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75" b="0">
                <a:solidFill>
                  <a:srgbClr val="223D4A"/>
                </a:solidFill>
                <a:latin typeface="DejaVu Sans"/>
                <a:ea typeface="DejaVu Sans"/>
              </a:rPr>
              <a:t>Terra training Generator</a:t>
            </a:r>
            <a:endParaRPr lang="en-US" sz="1775"/>
          </a:p>
        </p:txBody>
      </p:sp>
      <p:sp>
        <p:nvSpPr>
          <p:cNvPr id="32" name="Shape 32"/>
          <p:cNvSpPr txBox="1"/>
          <p:nvPr/>
        </p:nvSpPr>
        <p:spPr>
          <a:xfrm>
            <a:off x="3419856" y="4075938"/>
            <a:ext cx="20665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$1.00 nominal</a:t>
            </a:r>
            <a:endParaRPr lang="en-US" sz="1800"/>
          </a:p>
        </p:txBody>
      </p:sp>
      <p:sp>
        <p:nvSpPr>
          <p:cNvPr id="33" name="Shape 33"/>
          <p:cNvSpPr txBox="1"/>
          <p:nvPr/>
        </p:nvSpPr>
        <p:spPr>
          <a:xfrm>
            <a:off x="5705856" y="4075938"/>
            <a:ext cx="206654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32 requests</a:t>
            </a:r>
            <a:endParaRPr lang="en-US" sz="1800"/>
          </a:p>
        </p:txBody>
      </p:sp>
      <p:sp>
        <p:nvSpPr>
          <p:cNvPr id="34" name="Shape 34"/>
          <p:cNvSpPr txBox="1"/>
          <p:nvPr/>
        </p:nvSpPr>
        <p:spPr>
          <a:xfrm>
            <a:off x="7991856" y="4075938"/>
            <a:ext cx="3529584" cy="51435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75" b="0">
                <a:solidFill>
                  <a:srgbClr val="223D4A"/>
                </a:solidFill>
                <a:latin typeface="DejaVu Sans"/>
                <a:ea typeface="DejaVu Sans"/>
              </a:rPr>
              <a:t>Evolving book; older stopping rule</a:t>
            </a:r>
            <a:endParaRPr lang="en-US" sz="1775"/>
          </a:p>
        </p:txBody>
      </p:sp>
      <p:sp>
        <p:nvSpPr>
          <p:cNvPr id="35" name="Shape 35"/>
          <p:cNvSpPr txBox="1"/>
          <p:nvPr/>
        </p:nvSpPr>
        <p:spPr>
          <a:xfrm>
            <a:off x="758952" y="4818888"/>
            <a:ext cx="10698480" cy="109728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Qualified solve: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verifier success within the stated cost rule.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Bill includes failures;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book preparation is separate.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40 problems per X partition;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validation is reused development data.</a:t>
            </a:r>
            <a:endParaRPr lang="en-US" sz="1850"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COMPLETE DEVELOPMENT HISTORY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Development cycles 1/4 · replication and X3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06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For X rows, 80 cells = the same 40 validationX problems at two replicate identifiers.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26151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Cycle / change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3511296" y="1655064"/>
            <a:ext cx="39867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Observed development result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7717536" y="1655064"/>
            <a:ext cx="38039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Conclusion / disposition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566928" y="2194560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676656" y="2244852"/>
            <a:ext cx="26151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Initial replication</a:t>
            </a:r>
            <a:endParaRPr lang="en-US" sz="1750"/>
          </a:p>
        </p:txBody>
      </p:sp>
      <p:sp>
        <p:nvSpPr>
          <p:cNvPr id="16" name="Shape 16"/>
          <p:cNvSpPr txBox="1"/>
          <p:nvPr/>
        </p:nvSpPr>
        <p:spPr>
          <a:xfrm>
            <a:off x="3511296" y="2244852"/>
            <a:ext cx="39867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ACE = baseline: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32/40 cells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; $0.5058 vs $0.4446</a:t>
            </a:r>
            <a:endParaRPr lang="en-US" sz="1750"/>
          </a:p>
        </p:txBody>
      </p:sp>
      <p:sp>
        <p:nvSpPr>
          <p:cNvPr id="17" name="Shape 17"/>
          <p:cNvSpPr txBox="1"/>
          <p:nvPr/>
        </p:nvSpPr>
        <p:spPr>
          <a:xfrm>
            <a:off x="7717536" y="2244852"/>
            <a:ext cx="38039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No coverage gain; 20 original validation problems × 2 seeds.</a:t>
            </a:r>
            <a:endParaRPr lang="en-US" sz="1750"/>
          </a:p>
        </p:txBody>
      </p:sp>
      <p:sp>
        <p:nvSpPr>
          <p:cNvPr id="18" name="Shape 18"/>
          <p:cNvSpPr txBox="1"/>
          <p:nvPr/>
        </p:nvSpPr>
        <p:spPr>
          <a:xfrm>
            <a:off x="566928" y="2920594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76656" y="2970886"/>
            <a:ext cx="26151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Initial ablations / definitions</a:t>
            </a:r>
            <a:endParaRPr lang="en-US" sz="1750"/>
          </a:p>
        </p:txBody>
      </p:sp>
      <p:sp>
        <p:nvSpPr>
          <p:cNvPr id="20" name="Shape 20"/>
          <p:cNvSpPr txBox="1"/>
          <p:nvPr/>
        </p:nvSpPr>
        <p:spPr>
          <a:xfrm>
            <a:off x="3511296" y="2970886"/>
            <a:ext cx="39867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50" b="0">
                <a:solidFill>
                  <a:srgbClr val="223D4A"/>
                </a:solidFill>
                <a:latin typeface="DejaVu Sans"/>
                <a:ea typeface="DejaVu Sans"/>
              </a:rPr>
              <a:t>No-Reflector changes book composition; definitions fix </a:t>
            </a:r>
            <a:r>
              <a:rPr lang="en-US" sz="1650" b="1">
                <a:solidFill>
                  <a:srgbClr val="223D4A"/>
                </a:solidFill>
                <a:latin typeface="DejaVu Sans"/>
                <a:ea typeface="DejaVu Sans"/>
              </a:rPr>
              <a:t>1/8</a:t>
            </a:r>
            <a:r>
              <a:rPr lang="en-US" sz="1650" b="0">
                <a:solidFill>
                  <a:srgbClr val="223D4A"/>
                </a:solidFill>
                <a:latin typeface="DejaVu Sans"/>
                <a:ea typeface="DejaVu Sans"/>
              </a:rPr>
              <a:t> cells</a:t>
            </a:r>
            <a:endParaRPr lang="en-US" sz="1650"/>
          </a:p>
        </p:txBody>
      </p:sp>
      <p:sp>
        <p:nvSpPr>
          <p:cNvPr id="21" name="Shape 21"/>
          <p:cNvSpPr txBox="1"/>
          <p:nvPr/>
        </p:nvSpPr>
        <p:spPr>
          <a:xfrm>
            <a:off x="7717536" y="2970886"/>
            <a:ext cx="38039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75" b="0">
                <a:solidFill>
                  <a:srgbClr val="223D4A"/>
                </a:solidFill>
                <a:latin typeface="DejaVu Sans"/>
                <a:ea typeface="DejaVu Sans"/>
              </a:rPr>
              <a:t>No context-collapse replication at this scale; preserve the input fix.</a:t>
            </a:r>
            <a:endParaRPr lang="en-US" sz="1675"/>
          </a:p>
        </p:txBody>
      </p:sp>
      <p:sp>
        <p:nvSpPr>
          <p:cNvPr id="22" name="Shape 22"/>
          <p:cNvSpPr txBox="1"/>
          <p:nvPr/>
        </p:nvSpPr>
        <p:spPr>
          <a:xfrm>
            <a:off x="566928" y="3646627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676656" y="3696919"/>
            <a:ext cx="26151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X v2: offline / online</a:t>
            </a:r>
            <a:endParaRPr lang="en-US" sz="1750"/>
          </a:p>
        </p:txBody>
      </p:sp>
      <p:sp>
        <p:nvSpPr>
          <p:cNvPr id="24" name="Shape 24"/>
          <p:cNvSpPr txBox="1"/>
          <p:nvPr/>
        </p:nvSpPr>
        <p:spPr>
          <a:xfrm>
            <a:off x="3511296" y="3696919"/>
            <a:ext cx="39867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Offline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54/80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 = baseline; cold online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56/80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; warm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50/80</a:t>
            </a:r>
            <a:endParaRPr lang="en-US" sz="1750"/>
          </a:p>
        </p:txBody>
      </p:sp>
      <p:sp>
        <p:nvSpPr>
          <p:cNvPr id="25" name="Shape 25"/>
          <p:cNvSpPr txBox="1"/>
          <p:nvPr/>
        </p:nvSpPr>
        <p:spPr>
          <a:xfrm>
            <a:off x="7717536" y="3696919"/>
            <a:ext cx="38039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Warm start does not reliably improve results.</a:t>
            </a:r>
            <a:endParaRPr lang="en-US" sz="1750"/>
          </a:p>
        </p:txBody>
      </p:sp>
      <p:sp>
        <p:nvSpPr>
          <p:cNvPr id="26" name="Shape 26"/>
          <p:cNvSpPr txBox="1"/>
          <p:nvPr/>
        </p:nvSpPr>
        <p:spPr>
          <a:xfrm>
            <a:off x="566928" y="4372661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676656" y="4422953"/>
            <a:ext cx="26151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X3: batched evidence</a:t>
            </a:r>
            <a:endParaRPr lang="en-US" sz="1750"/>
          </a:p>
        </p:txBody>
      </p:sp>
      <p:sp>
        <p:nvSpPr>
          <p:cNvPr id="28" name="Shape 28"/>
          <p:cNvSpPr txBox="1"/>
          <p:nvPr/>
        </p:nvSpPr>
        <p:spPr>
          <a:xfrm>
            <a:off x="3511296" y="4422953"/>
            <a:ext cx="39867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X3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57/80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 vs baseline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54/80</a:t>
            </a:r>
            <a:endParaRPr lang="en-US" sz="1750"/>
          </a:p>
        </p:txBody>
      </p:sp>
      <p:sp>
        <p:nvSpPr>
          <p:cNvPr id="29" name="Shape 29"/>
          <p:cNvSpPr txBox="1"/>
          <p:nvPr/>
        </p:nvSpPr>
        <p:spPr>
          <a:xfrm>
            <a:off x="7717536" y="4422953"/>
            <a:ext cx="38039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Modest gain; one-epoch book becomes the reference.</a:t>
            </a:r>
            <a:endParaRPr lang="en-US" sz="1750"/>
          </a:p>
        </p:txBody>
      </p:sp>
      <p:sp>
        <p:nvSpPr>
          <p:cNvPr id="30" name="Shape 30"/>
          <p:cNvSpPr txBox="1"/>
          <p:nvPr/>
        </p:nvSpPr>
        <p:spPr>
          <a:xfrm>
            <a:off x="566928" y="5098694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76656" y="5148986"/>
            <a:ext cx="26151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Reflection / rewriting / epochs</a:t>
            </a:r>
            <a:endParaRPr lang="en-US" sz="1750"/>
          </a:p>
        </p:txBody>
      </p:sp>
      <p:sp>
        <p:nvSpPr>
          <p:cNvPr id="32" name="Shape 32"/>
          <p:cNvSpPr txBox="1"/>
          <p:nvPr/>
        </p:nvSpPr>
        <p:spPr>
          <a:xfrm>
            <a:off x="3511296" y="5148986"/>
            <a:ext cx="398678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No-Reflector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57/80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; monolithic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55/80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; X3 3 epochs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53/80</a:t>
            </a:r>
            <a:endParaRPr lang="en-US" sz="1750"/>
          </a:p>
        </p:txBody>
      </p:sp>
      <p:sp>
        <p:nvSpPr>
          <p:cNvPr id="33" name="Shape 33"/>
          <p:cNvSpPr txBox="1"/>
          <p:nvPr/>
        </p:nvSpPr>
        <p:spPr>
          <a:xfrm>
            <a:off x="7717536" y="5148986"/>
            <a:ext cx="38039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More reflection / training is not reliably better.</a:t>
            </a:r>
            <a:endParaRPr lang="en-US" sz="1750"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COMPLETE DEVELOPMENT HISTORY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850" b="1">
                <a:solidFill>
                  <a:srgbClr val="142C3B"/>
                </a:solidFill>
                <a:latin typeface="DejaVu Sans"/>
                <a:ea typeface="DejaVu Sans"/>
              </a:rPr>
              <a:t>Development cycles 2/4 · better advice and delivery</a:t>
            </a:r>
            <a:endParaRPr lang="en-US" sz="285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07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Advice can be correct, cheaper to send, or more traceable without completing more theorems.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26151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Cycle / change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3511296" y="1655064"/>
            <a:ext cx="39867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Observed development result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7717536" y="1655064"/>
            <a:ext cx="38039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Conclusion / disposition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566928" y="2194560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676656" y="2244852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X4: cited-only credit</a:t>
            </a:r>
            <a:endParaRPr lang="en-US" sz="1700"/>
          </a:p>
        </p:txBody>
      </p:sp>
      <p:sp>
        <p:nvSpPr>
          <p:cNvPr id="16" name="Shape 16"/>
          <p:cNvSpPr txBox="1"/>
          <p:nvPr/>
        </p:nvSpPr>
        <p:spPr>
          <a:xfrm>
            <a:off x="3511296" y="2244852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55/80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 vs X3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57/80</a:t>
            </a:r>
            <a:endParaRPr lang="en-US" sz="1700"/>
          </a:p>
        </p:txBody>
      </p:sp>
      <p:sp>
        <p:nvSpPr>
          <p:cNvPr id="17" name="Shape 17"/>
          <p:cNvSpPr txBox="1"/>
          <p:nvPr/>
        </p:nvSpPr>
        <p:spPr>
          <a:xfrm>
            <a:off x="7717536" y="2244852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Better bookkeeping; citations do not establish causal usefulness.</a:t>
            </a:r>
            <a:endParaRPr lang="en-US" sz="1700"/>
          </a:p>
        </p:txBody>
      </p:sp>
      <p:sp>
        <p:nvSpPr>
          <p:cNvPr id="18" name="Shape 18"/>
          <p:cNvSpPr txBox="1"/>
          <p:nvPr/>
        </p:nvSpPr>
        <p:spPr>
          <a:xfrm>
            <a:off x="566928" y="2799588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76656" y="2849880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Stronger writers / v5</a:t>
            </a:r>
            <a:endParaRPr lang="en-US" sz="1700"/>
          </a:p>
        </p:txBody>
      </p:sp>
      <p:sp>
        <p:nvSpPr>
          <p:cNvPr id="20" name="Shape 20"/>
          <p:cNvSpPr txBox="1"/>
          <p:nvPr/>
        </p:nvSpPr>
        <p:spPr>
          <a:xfrm>
            <a:off x="3511296" y="2849880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Terra writers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55/80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v5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53/80</a:t>
            </a:r>
            <a:endParaRPr lang="en-US" sz="1700"/>
          </a:p>
        </p:txBody>
      </p:sp>
      <p:sp>
        <p:nvSpPr>
          <p:cNvPr id="21" name="Shape 21"/>
          <p:cNvSpPr txBox="1"/>
          <p:nvPr/>
        </p:nvSpPr>
        <p:spPr>
          <a:xfrm>
            <a:off x="7717536" y="2849880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More capable writing and richer failure evidence do not beat X3.</a:t>
            </a:r>
            <a:endParaRPr lang="en-US" sz="1700"/>
          </a:p>
        </p:txBody>
      </p:sp>
      <p:sp>
        <p:nvSpPr>
          <p:cNvPr id="22" name="Shape 22"/>
          <p:cNvSpPr txBox="1"/>
          <p:nvPr/>
        </p:nvSpPr>
        <p:spPr>
          <a:xfrm>
            <a:off x="566928" y="3404616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676656" y="3454908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Rendering v2 vs v3</a:t>
            </a:r>
            <a:endParaRPr lang="en-US" sz="1700"/>
          </a:p>
        </p:txBody>
      </p:sp>
      <p:sp>
        <p:nvSpPr>
          <p:cNvPr id="24" name="Shape 24"/>
          <p:cNvSpPr txBox="1"/>
          <p:nvPr/>
        </p:nvSpPr>
        <p:spPr>
          <a:xfrm>
            <a:off x="3511296" y="3454908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Cost effect changes sign across v5 and X3 books</a:t>
            </a:r>
            <a:endParaRPr lang="en-US" sz="1700"/>
          </a:p>
        </p:txBody>
      </p:sp>
      <p:sp>
        <p:nvSpPr>
          <p:cNvPr id="25" name="Shape 25"/>
          <p:cNvSpPr txBox="1"/>
          <p:nvPr/>
        </p:nvSpPr>
        <p:spPr>
          <a:xfrm>
            <a:off x="7717536" y="3454908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Rendering effect depends on the book.</a:t>
            </a:r>
            <a:endParaRPr lang="en-US" sz="1700"/>
          </a:p>
        </p:txBody>
      </p:sp>
      <p:sp>
        <p:nvSpPr>
          <p:cNvPr id="26" name="Shape 26"/>
          <p:cNvSpPr txBox="1"/>
          <p:nvPr/>
        </p:nvSpPr>
        <p:spPr>
          <a:xfrm>
            <a:off x="566928" y="4009644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676656" y="4059936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Hints on error / x6 repairs</a:t>
            </a:r>
            <a:endParaRPr lang="en-US" sz="1700"/>
          </a:p>
        </p:txBody>
      </p:sp>
      <p:sp>
        <p:nvSpPr>
          <p:cNvPr id="28" name="Shape 28"/>
          <p:cNvSpPr txBox="1"/>
          <p:nvPr/>
        </p:nvSpPr>
        <p:spPr>
          <a:xfrm>
            <a:off x="3511296" y="4059936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Triggered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53/80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repairs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56 raw / 55 qualified</a:t>
            </a:r>
            <a:endParaRPr lang="en-US" sz="1700"/>
          </a:p>
        </p:txBody>
      </p:sp>
      <p:sp>
        <p:nvSpPr>
          <p:cNvPr id="29" name="Shape 29"/>
          <p:cNvSpPr txBox="1"/>
          <p:nvPr/>
        </p:nvSpPr>
        <p:spPr>
          <a:xfrm>
            <a:off x="7717536" y="4059936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Some repairs help locally; no reliable large coverage gain.</a:t>
            </a:r>
            <a:endParaRPr lang="en-US" sz="1700"/>
          </a:p>
        </p:txBody>
      </p:sp>
      <p:sp>
        <p:nvSpPr>
          <p:cNvPr id="30" name="Shape 30"/>
          <p:cNvSpPr txBox="1"/>
          <p:nvPr/>
        </p:nvSpPr>
        <p:spPr>
          <a:xfrm>
            <a:off x="566928" y="4614672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76656" y="4664964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Stall stopping: k = 4</a:t>
            </a:r>
            <a:endParaRPr lang="en-US" sz="1700"/>
          </a:p>
        </p:txBody>
      </p:sp>
      <p:sp>
        <p:nvSpPr>
          <p:cNvPr id="32" name="Shape 32"/>
          <p:cNvSpPr txBox="1"/>
          <p:nvPr/>
        </p:nvSpPr>
        <p:spPr>
          <a:xfrm>
            <a:off x="3511296" y="4664964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26/40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, $0.7943 vs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27/40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, $0.8870</a:t>
            </a:r>
            <a:endParaRPr lang="en-US" sz="1700"/>
          </a:p>
        </p:txBody>
      </p:sp>
      <p:sp>
        <p:nvSpPr>
          <p:cNvPr id="33" name="Shape 33"/>
          <p:cNvSpPr txBox="1"/>
          <p:nvPr/>
        </p:nvSpPr>
        <p:spPr>
          <a:xfrm>
            <a:off x="7717536" y="4664964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Spend less with one fewer solve; live and offline estimates differ.</a:t>
            </a:r>
            <a:endParaRPr lang="en-US" sz="1700"/>
          </a:p>
        </p:txBody>
      </p:sp>
      <p:sp>
        <p:nvSpPr>
          <p:cNvPr id="34" name="Shape 34"/>
          <p:cNvSpPr txBox="1"/>
          <p:nvPr/>
        </p:nvSpPr>
        <p:spPr>
          <a:xfrm>
            <a:off x="566928" y="5219700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676656" y="5269992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Deterministic digest table</a:t>
            </a:r>
            <a:endParaRPr lang="en-US" sz="1700"/>
          </a:p>
        </p:txBody>
      </p:sp>
      <p:sp>
        <p:nvSpPr>
          <p:cNvPr id="36" name="Shape 36"/>
          <p:cNvSpPr txBox="1"/>
          <p:nvPr/>
        </p:nvSpPr>
        <p:spPr>
          <a:xfrm>
            <a:off x="3511296" y="5269992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51/80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 vs X3 rendering 2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56/80</a:t>
            </a:r>
            <a:endParaRPr lang="en-US" sz="1700"/>
          </a:p>
        </p:txBody>
      </p:sp>
      <p:sp>
        <p:nvSpPr>
          <p:cNvPr id="37" name="Shape 37"/>
          <p:cNvSpPr txBox="1"/>
          <p:nvPr/>
        </p:nvSpPr>
        <p:spPr>
          <a:xfrm>
            <a:off x="7717536" y="5269992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Simple summaries lose coverage; effect uncertain.</a:t>
            </a:r>
            <a:endParaRPr lang="en-US" sz="1700"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COMPLETE DEVELOPMENT HISTORY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925" b="1">
                <a:solidFill>
                  <a:srgbClr val="142C3B"/>
                </a:solidFill>
                <a:latin typeface="DejaVu Sans"/>
                <a:ea typeface="DejaVu Sans"/>
              </a:rPr>
              <a:t>Development cycles 3/4 · control and local checks</a:t>
            </a:r>
            <a:endParaRPr lang="en-US" sz="2925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08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Local episodes, theorem cells and campaign bills have different denominators.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26151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Cycle / change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3511296" y="1655064"/>
            <a:ext cx="39867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Observed development result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7717536" y="1655064"/>
            <a:ext cx="38039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Conclusion / disposition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566928" y="2194560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676656" y="2244852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Review development stage</a:t>
            </a:r>
            <a:endParaRPr lang="en-US" sz="1700"/>
          </a:p>
        </p:txBody>
      </p:sp>
      <p:sp>
        <p:nvSpPr>
          <p:cNvPr id="16" name="Shape 16"/>
          <p:cNvSpPr txBox="1"/>
          <p:nvPr/>
        </p:nvSpPr>
        <p:spPr>
          <a:xfrm>
            <a:off x="3511296" y="2244852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X3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57/80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repair books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55 / 54 raw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baseline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52/80</a:t>
            </a:r>
            <a:endParaRPr lang="en-US" sz="1700"/>
          </a:p>
        </p:txBody>
      </p:sp>
      <p:sp>
        <p:nvSpPr>
          <p:cNvPr id="17" name="Shape 17"/>
          <p:cNvSpPr txBox="1"/>
          <p:nvPr/>
        </p:nvSpPr>
        <p:spPr>
          <a:xfrm>
            <a:off x="7717536" y="2244852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Repair books do not beat X3; protected stages excluded.</a:t>
            </a:r>
            <a:endParaRPr lang="en-US" sz="1700"/>
          </a:p>
        </p:txBody>
      </p:sp>
      <p:sp>
        <p:nvSpPr>
          <p:cNvPr id="18" name="Shape 18"/>
          <p:cNvSpPr txBox="1"/>
          <p:nvPr/>
        </p:nvSpPr>
        <p:spPr>
          <a:xfrm>
            <a:off x="566928" y="2799588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76656" y="2849880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Bounded money + focused</a:t>
            </a:r>
            <a:endParaRPr lang="en-US" sz="1700"/>
          </a:p>
        </p:txBody>
      </p:sp>
      <p:sp>
        <p:nvSpPr>
          <p:cNvPr id="20" name="Shape 20"/>
          <p:cNvSpPr txBox="1"/>
          <p:nvPr/>
        </p:nvSpPr>
        <p:spPr>
          <a:xfrm>
            <a:off x="3511296" y="2849880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25/40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 vs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28/40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spending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−55.5%</a:t>
            </a:r>
            <a:endParaRPr lang="en-US" sz="1700"/>
          </a:p>
        </p:txBody>
      </p:sp>
      <p:sp>
        <p:nvSpPr>
          <p:cNvPr id="21" name="Shape 21"/>
          <p:cNvSpPr txBox="1"/>
          <p:nvPr/>
        </p:nvSpPr>
        <p:spPr>
          <a:xfrm>
            <a:off x="7717536" y="2849880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Accepted trade-off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original no-loss gate failed.</a:t>
            </a:r>
            <a:endParaRPr lang="en-US" sz="1700"/>
          </a:p>
        </p:txBody>
      </p:sp>
      <p:sp>
        <p:nvSpPr>
          <p:cNvPr id="22" name="Shape 22"/>
          <p:cNvSpPr txBox="1"/>
          <p:nvPr/>
        </p:nvSpPr>
        <p:spPr>
          <a:xfrm>
            <a:off x="566928" y="3404616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676656" y="3454908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Control-cycle follow-up</a:t>
            </a:r>
            <a:endParaRPr lang="en-US" sz="1700"/>
          </a:p>
        </p:txBody>
      </p:sp>
      <p:sp>
        <p:nvSpPr>
          <p:cNvPr id="24" name="Shape 24"/>
          <p:cNvSpPr txBox="1"/>
          <p:nvPr/>
        </p:nvSpPr>
        <p:spPr>
          <a:xfrm>
            <a:off x="3511296" y="3454908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28/40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, $1.0253 vs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25/40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, $0.6780</a:t>
            </a:r>
            <a:endParaRPr lang="en-US" sz="1700"/>
          </a:p>
        </p:txBody>
      </p:sp>
      <p:sp>
        <p:nvSpPr>
          <p:cNvPr id="25" name="Shape 25"/>
          <p:cNvSpPr txBox="1"/>
          <p:nvPr/>
        </p:nvSpPr>
        <p:spPr>
          <a:xfrm>
            <a:off x="7717536" y="3454908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Coverage bought back at higher cost; Pareto gate failed.</a:t>
            </a:r>
            <a:endParaRPr lang="en-US" sz="1700"/>
          </a:p>
        </p:txBody>
      </p:sp>
      <p:sp>
        <p:nvSpPr>
          <p:cNvPr id="26" name="Shape 26"/>
          <p:cNvSpPr txBox="1"/>
          <p:nvPr/>
        </p:nvSpPr>
        <p:spPr>
          <a:xfrm>
            <a:off x="566928" y="4009644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676656" y="4059936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Polish / downshift / recovery</a:t>
            </a:r>
            <a:endParaRPr lang="en-US" sz="1700"/>
          </a:p>
        </p:txBody>
      </p:sp>
      <p:sp>
        <p:nvSpPr>
          <p:cNvPr id="28" name="Shape 28"/>
          <p:cNvSpPr txBox="1"/>
          <p:nvPr/>
        </p:nvSpPr>
        <p:spPr>
          <a:xfrm>
            <a:off x="3511296" y="4059936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53/80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 each; candidate bill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+5.55%</a:t>
            </a:r>
            <a:endParaRPr lang="en-US" sz="1700"/>
          </a:p>
        </p:txBody>
      </p:sp>
      <p:sp>
        <p:nvSpPr>
          <p:cNvPr id="29" name="Shape 29"/>
          <p:cNvSpPr txBox="1"/>
          <p:nvPr/>
        </p:nvSpPr>
        <p:spPr>
          <a:xfrm>
            <a:off x="7717536" y="4059936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No benchmark win; keep optional.</a:t>
            </a:r>
            <a:endParaRPr lang="en-US" sz="1700"/>
          </a:p>
        </p:txBody>
      </p:sp>
      <p:sp>
        <p:nvSpPr>
          <p:cNvPr id="30" name="Shape 30"/>
          <p:cNvSpPr txBox="1"/>
          <p:nvPr/>
        </p:nvSpPr>
        <p:spPr>
          <a:xfrm>
            <a:off x="566928" y="4614672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76656" y="4664964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Applicability / checked change</a:t>
            </a:r>
            <a:endParaRPr lang="en-US" sz="1700"/>
          </a:p>
        </p:txBody>
      </p:sp>
      <p:sp>
        <p:nvSpPr>
          <p:cNvPr id="32" name="Shape 32"/>
          <p:cNvSpPr txBox="1"/>
          <p:nvPr/>
        </p:nvSpPr>
        <p:spPr>
          <a:xfrm>
            <a:off x="3511296" y="4664964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Adaptive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2/12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 useful vs fixed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3/12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checked change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1→2/6</a:t>
            </a:r>
            <a:endParaRPr lang="en-US" sz="1700"/>
          </a:p>
        </p:txBody>
      </p:sp>
      <p:sp>
        <p:nvSpPr>
          <p:cNvPr id="33" name="Shape 33"/>
          <p:cNvSpPr txBox="1"/>
          <p:nvPr/>
        </p:nvSpPr>
        <p:spPr>
          <a:xfrm>
            <a:off x="7717536" y="4664964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75" b="0">
                <a:solidFill>
                  <a:srgbClr val="223D4A"/>
                </a:solidFill>
                <a:latin typeface="DejaVu Sans"/>
                <a:ea typeface="DejaVu Sans"/>
              </a:rPr>
              <a:t>Local correctness helps; full-theorem gains unestablished.</a:t>
            </a:r>
            <a:endParaRPr lang="en-US" sz="1675"/>
          </a:p>
        </p:txBody>
      </p:sp>
      <p:sp>
        <p:nvSpPr>
          <p:cNvPr id="34" name="Shape 34"/>
          <p:cNvSpPr txBox="1"/>
          <p:nvPr/>
        </p:nvSpPr>
        <p:spPr>
          <a:xfrm>
            <a:off x="566928" y="5219700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676656" y="5269992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Local reasoning-effort probes</a:t>
            </a:r>
            <a:endParaRPr lang="en-US" sz="1700"/>
          </a:p>
        </p:txBody>
      </p:sp>
      <p:sp>
        <p:nvSpPr>
          <p:cNvPr id="36" name="Shape 36"/>
          <p:cNvSpPr txBox="1"/>
          <p:nvPr/>
        </p:nvSpPr>
        <p:spPr>
          <a:xfrm>
            <a:off x="3511296" y="5269992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Terra low/medium/high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4/6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 each; Luna high/xhigh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5/6</a:t>
            </a:r>
            <a:endParaRPr lang="en-US" sz="1700"/>
          </a:p>
        </p:txBody>
      </p:sp>
      <p:sp>
        <p:nvSpPr>
          <p:cNvPr id="37" name="Shape 37"/>
          <p:cNvSpPr txBox="1"/>
          <p:nvPr/>
        </p:nvSpPr>
        <p:spPr>
          <a:xfrm>
            <a:off x="7717536" y="5269992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75" b="0">
                <a:solidFill>
                  <a:srgbClr val="223D4A"/>
                </a:solidFill>
                <a:latin typeface="DejaVu Sans"/>
                <a:ea typeface="DejaVu Sans"/>
              </a:rPr>
              <a:t>More reasoning is not monotonic; check the right local operation.</a:t>
            </a:r>
            <a:endParaRPr lang="en-US" sz="1675"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COMPLETE DEVELOPMENT HISTORY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875" b="1">
                <a:solidFill>
                  <a:srgbClr val="142C3B"/>
                </a:solidFill>
                <a:latin typeface="DejaVu Sans"/>
                <a:ea typeface="DejaVu Sans"/>
              </a:rPr>
              <a:t>Development cycles 4/4 · coverage and attribution</a:t>
            </a:r>
            <a:endParaRPr lang="en-US" sz="2875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09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Completed cycles are preserved as evidence; the latest losing variants are not the new default.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26151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Cycle / change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3511296" y="1655064"/>
            <a:ext cx="39867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Observed development result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7717536" y="1655064"/>
            <a:ext cx="38039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Conclusion / disposition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566928" y="2194560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676656" y="2244852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Model / writer-effort suite</a:t>
            </a:r>
            <a:endParaRPr lang="en-US" sz="1700"/>
          </a:p>
        </p:txBody>
      </p:sp>
      <p:sp>
        <p:nvSpPr>
          <p:cNvPr id="16" name="Shape 16"/>
          <p:cNvSpPr txBox="1"/>
          <p:nvPr/>
        </p:nvSpPr>
        <p:spPr>
          <a:xfrm>
            <a:off x="3511296" y="2244852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Pilot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18/24 vs 17/24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full contenders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19 / 24 vs 27/40</a:t>
            </a:r>
            <a:endParaRPr lang="en-US" sz="1700"/>
          </a:p>
        </p:txBody>
      </p:sp>
      <p:sp>
        <p:nvSpPr>
          <p:cNvPr id="17" name="Shape 17"/>
          <p:cNvSpPr txBox="1"/>
          <p:nvPr/>
        </p:nvSpPr>
        <p:spPr>
          <a:xfrm>
            <a:off x="7717536" y="2244852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Promising pilot did not become a coverage upgrade.</a:t>
            </a:r>
            <a:endParaRPr lang="en-US" sz="1700"/>
          </a:p>
        </p:txBody>
      </p:sp>
      <p:sp>
        <p:nvSpPr>
          <p:cNvPr id="18" name="Shape 18"/>
          <p:cNvSpPr txBox="1"/>
          <p:nvPr/>
        </p:nvSpPr>
        <p:spPr>
          <a:xfrm>
            <a:off x="566928" y="2799588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76656" y="2849880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Structured mechanisms</a:t>
            </a:r>
            <a:endParaRPr lang="en-US" sz="1700"/>
          </a:p>
        </p:txBody>
      </p:sp>
      <p:sp>
        <p:nvSpPr>
          <p:cNvPr id="20" name="Shape 20"/>
          <p:cNvSpPr txBox="1"/>
          <p:nvPr/>
        </p:nvSpPr>
        <p:spPr>
          <a:xfrm>
            <a:off x="3511296" y="2849880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Effort arm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43/80 vs 53/80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S/C/R have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51 parse failures</a:t>
            </a:r>
            <a:endParaRPr lang="en-US" sz="1700"/>
          </a:p>
        </p:txBody>
      </p:sp>
      <p:sp>
        <p:nvSpPr>
          <p:cNvPr id="21" name="Shape 21"/>
          <p:cNvSpPr txBox="1"/>
          <p:nvPr/>
        </p:nvSpPr>
        <p:spPr>
          <a:xfrm>
            <a:off x="7717536" y="2849880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No promotion; parser confounds mechanism interpretation.</a:t>
            </a:r>
            <a:endParaRPr lang="en-US" sz="1700"/>
          </a:p>
        </p:txBody>
      </p:sp>
      <p:sp>
        <p:nvSpPr>
          <p:cNvPr id="22" name="Shape 22"/>
          <p:cNvSpPr txBox="1"/>
          <p:nvPr/>
        </p:nvSpPr>
        <p:spPr>
          <a:xfrm>
            <a:off x="566928" y="3404616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676656" y="3454908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Fixed-book demos / exploration</a:t>
            </a:r>
            <a:endParaRPr lang="en-US" sz="1700"/>
          </a:p>
        </p:txBody>
      </p:sp>
      <p:sp>
        <p:nvSpPr>
          <p:cNvPr id="24" name="Shape 24"/>
          <p:cNvSpPr txBox="1"/>
          <p:nvPr/>
        </p:nvSpPr>
        <p:spPr>
          <a:xfrm>
            <a:off x="3511296" y="3454908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D/E validation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26 / 25 vs 27/40</a:t>
            </a:r>
            <a:endParaRPr lang="en-US" sz="1700"/>
          </a:p>
        </p:txBody>
      </p:sp>
      <p:sp>
        <p:nvSpPr>
          <p:cNvPr id="25" name="Shape 25"/>
          <p:cNvSpPr txBox="1"/>
          <p:nvPr/>
        </p:nvSpPr>
        <p:spPr>
          <a:xfrm>
            <a:off x="7717536" y="3454908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No coverage gain; unchanged book.</a:t>
            </a:r>
            <a:endParaRPr lang="en-US" sz="1700"/>
          </a:p>
        </p:txBody>
      </p:sp>
      <p:sp>
        <p:nvSpPr>
          <p:cNvPr id="26" name="Shape 26"/>
          <p:cNvSpPr txBox="1"/>
          <p:nvPr/>
        </p:nvSpPr>
        <p:spPr>
          <a:xfrm>
            <a:off x="566928" y="4009644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676656" y="4059936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Four isolated coverage arms</a:t>
            </a:r>
            <a:endParaRPr lang="en-US" sz="1700"/>
          </a:p>
        </p:txBody>
      </p:sp>
      <p:sp>
        <p:nvSpPr>
          <p:cNvPr id="28" name="Shape 28"/>
          <p:cNvSpPr txBox="1"/>
          <p:nvPr/>
        </p:nvSpPr>
        <p:spPr>
          <a:xfrm>
            <a:off x="3511296" y="4059936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D2/E2/S/H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25 / 24 / 25 / 25 vs 27/40</a:t>
            </a:r>
            <a:endParaRPr lang="en-US" sz="1700"/>
          </a:p>
        </p:txBody>
      </p:sp>
      <p:sp>
        <p:nvSpPr>
          <p:cNvPr id="29" name="Shape 29"/>
          <p:cNvSpPr txBox="1"/>
          <p:nvPr/>
        </p:nvSpPr>
        <p:spPr>
          <a:xfrm>
            <a:off x="7717536" y="4059936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All cost more on validation; retain the reference.</a:t>
            </a:r>
            <a:endParaRPr lang="en-US" sz="1700"/>
          </a:p>
        </p:txBody>
      </p:sp>
      <p:sp>
        <p:nvSpPr>
          <p:cNvPr id="30" name="Shape 30"/>
          <p:cNvSpPr txBox="1"/>
          <p:nvPr/>
        </p:nvSpPr>
        <p:spPr>
          <a:xfrm>
            <a:off x="566928" y="4614672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76656" y="4664964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Attribution / capacity</a:t>
            </a:r>
            <a:endParaRPr lang="en-US" sz="1700"/>
          </a:p>
        </p:txBody>
      </p:sp>
      <p:sp>
        <p:nvSpPr>
          <p:cNvPr id="32" name="Shape 32"/>
          <p:cNvSpPr txBox="1"/>
          <p:nvPr/>
        </p:nvSpPr>
        <p:spPr>
          <a:xfrm>
            <a:off x="3511296" y="4664964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Own-book increment: Luna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+3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, Terra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+1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training Terra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38/40</a:t>
            </a:r>
            <a:endParaRPr lang="en-US" sz="1700"/>
          </a:p>
        </p:txBody>
      </p:sp>
      <p:sp>
        <p:nvSpPr>
          <p:cNvPr id="33" name="Shape 33"/>
          <p:cNvSpPr txBox="1"/>
          <p:nvPr/>
        </p:nvSpPr>
        <p:spPr>
          <a:xfrm>
            <a:off x="7717536" y="4664964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Solver strength exceeds demonstrated ACE increment.</a:t>
            </a:r>
            <a:endParaRPr lang="en-US" sz="1700"/>
          </a:p>
        </p:txBody>
      </p:sp>
      <p:sp>
        <p:nvSpPr>
          <p:cNvPr id="34" name="Shape 34"/>
          <p:cNvSpPr txBox="1"/>
          <p:nvPr/>
        </p:nvSpPr>
        <p:spPr>
          <a:xfrm>
            <a:off x="566928" y="5219700"/>
            <a:ext cx="11064240" cy="57302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676656" y="5269992"/>
            <a:ext cx="26151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13 Sep: resource completion</a:t>
            </a:r>
            <a:endParaRPr lang="en-US" sz="1700"/>
          </a:p>
        </p:txBody>
      </p:sp>
      <p:sp>
        <p:nvSpPr>
          <p:cNvPr id="36" name="Shape 36"/>
          <p:cNvSpPr txBox="1"/>
          <p:nvPr/>
        </p:nvSpPr>
        <p:spPr>
          <a:xfrm>
            <a:off x="3511296" y="5269992"/>
            <a:ext cx="398678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Small cap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26/40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; continuation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23/40</a:t>
            </a: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 vs </a:t>
            </a: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27/40</a:t>
            </a:r>
            <a:endParaRPr lang="en-US" sz="1700"/>
          </a:p>
        </p:txBody>
      </p:sp>
      <p:sp>
        <p:nvSpPr>
          <p:cNvPr id="37" name="Shape 37"/>
          <p:cNvSpPr txBox="1"/>
          <p:nvPr/>
        </p:nvSpPr>
        <p:spPr>
          <a:xfrm>
            <a:off x="7717536" y="5269992"/>
            <a:ext cx="3803904" cy="5090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223D4A"/>
                </a:solidFill>
                <a:latin typeface="DejaVu Sans"/>
                <a:ea typeface="DejaVu Sans"/>
              </a:rPr>
              <a:t>Both cost more; no follow-up selected, no promotion.</a:t>
            </a:r>
            <a:endParaRPr lang="en-US" sz="1700"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CONTROL RESULT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The strongest result is a budget trade-off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10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Both use a nominal $0.10/problem allowance; the controller changes what gets admitted.</a:t>
            </a:r>
            <a:endParaRPr lang="en-US" sz="1450"/>
          </a:p>
        </p:txBody>
      </p:sp>
      <p:pic>
        <p:nvPicPr>
          <p:cNvPr id="10" name="bounded" descr="Observed data; standalone figure and source CSV provi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63" y="1618488"/>
            <a:ext cx="6035794" cy="4224528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6995160" y="1655064"/>
            <a:ext cx="22860" cy="4059936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296912" y="1746504"/>
            <a:ext cx="4215384" cy="39959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Coverage: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28 → 25 / 40.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Bill: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$1.5238 → $0.6780; </a:t>
            </a: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55.5% less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Cost per solve: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$0.0544 → $0.0271.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Accepted: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three fewer solves for lower cost; no-loss gate failed.</a:t>
            </a:r>
            <a:endParaRPr lang="en-US" sz="2100"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ATTRIBUTION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900" b="1">
                <a:solidFill>
                  <a:srgbClr val="142C3B"/>
                </a:solidFill>
                <a:latin typeface="DejaVu Sans"/>
                <a:ea typeface="DejaVu Sans"/>
              </a:rPr>
              <a:t>A changed baseline explains part of the confusion</a:t>
            </a:r>
            <a:endParaRPr lang="en-US" sz="29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11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All use Luna and $0.10/problem; controller, feedback and runtime lineage still differ.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371246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Program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4608576" y="1655064"/>
            <a:ext cx="188366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trainX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6711696" y="1655064"/>
            <a:ext cx="224942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validationX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9180576" y="1655064"/>
            <a:ext cx="234086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Validation bill</a:t>
            </a:r>
            <a:endParaRPr lang="en-US" sz="1450"/>
          </a:p>
        </p:txBody>
      </p:sp>
      <p:sp>
        <p:nvSpPr>
          <p:cNvPr id="15" name="Shape 15"/>
          <p:cNvSpPr txBox="1"/>
          <p:nvPr/>
        </p:nvSpPr>
        <p:spPr>
          <a:xfrm>
            <a:off x="566928" y="2194560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76656" y="2244852"/>
            <a:ext cx="37124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0">
                <a:solidFill>
                  <a:srgbClr val="223D4A"/>
                </a:solidFill>
                <a:latin typeface="DejaVu Sans"/>
                <a:ea typeface="DejaVu Sans"/>
              </a:rPr>
              <a:t>Earlier / no book</a:t>
            </a:r>
            <a:endParaRPr lang="en-US" sz="2300"/>
          </a:p>
        </p:txBody>
      </p:sp>
      <p:sp>
        <p:nvSpPr>
          <p:cNvPr id="17" name="Shape 17"/>
          <p:cNvSpPr txBox="1"/>
          <p:nvPr/>
        </p:nvSpPr>
        <p:spPr>
          <a:xfrm>
            <a:off x="4608576" y="2244852"/>
            <a:ext cx="18836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223D4A"/>
                </a:solidFill>
                <a:latin typeface="DejaVu Sans"/>
                <a:ea typeface="DejaVu Sans"/>
              </a:rPr>
              <a:t>33/40</a:t>
            </a:r>
            <a:endParaRPr lang="en-US" sz="2300"/>
          </a:p>
        </p:txBody>
      </p:sp>
      <p:sp>
        <p:nvSpPr>
          <p:cNvPr id="18" name="Shape 18"/>
          <p:cNvSpPr txBox="1"/>
          <p:nvPr/>
        </p:nvSpPr>
        <p:spPr>
          <a:xfrm>
            <a:off x="6711696" y="2244852"/>
            <a:ext cx="224942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223D4A"/>
                </a:solidFill>
                <a:latin typeface="DejaVu Sans"/>
                <a:ea typeface="DejaVu Sans"/>
              </a:rPr>
              <a:t>27/40</a:t>
            </a:r>
            <a:endParaRPr lang="en-US" sz="2300"/>
          </a:p>
        </p:txBody>
      </p:sp>
      <p:sp>
        <p:nvSpPr>
          <p:cNvPr id="19" name="Shape 19"/>
          <p:cNvSpPr txBox="1"/>
          <p:nvPr/>
        </p:nvSpPr>
        <p:spPr>
          <a:xfrm>
            <a:off x="9180576" y="2244852"/>
            <a:ext cx="23408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0">
                <a:solidFill>
                  <a:srgbClr val="223D4A"/>
                </a:solidFill>
                <a:latin typeface="DejaVu Sans"/>
                <a:ea typeface="DejaVu Sans"/>
              </a:rPr>
              <a:t>$0.8870</a:t>
            </a:r>
            <a:endParaRPr lang="en-US" sz="2300"/>
          </a:p>
        </p:txBody>
      </p:sp>
      <p:sp>
        <p:nvSpPr>
          <p:cNvPr id="20" name="Shape 20"/>
          <p:cNvSpPr txBox="1"/>
          <p:nvPr/>
        </p:nvSpPr>
        <p:spPr>
          <a:xfrm>
            <a:off x="566928" y="2871216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1" name="Shape 21"/>
          <p:cNvSpPr txBox="1"/>
          <p:nvPr/>
        </p:nvSpPr>
        <p:spPr>
          <a:xfrm>
            <a:off x="676656" y="2921508"/>
            <a:ext cx="37124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0">
                <a:solidFill>
                  <a:srgbClr val="223D4A"/>
                </a:solidFill>
                <a:latin typeface="DejaVu Sans"/>
                <a:ea typeface="DejaVu Sans"/>
              </a:rPr>
              <a:t>Bounded / no book</a:t>
            </a:r>
            <a:endParaRPr lang="en-US" sz="2300"/>
          </a:p>
        </p:txBody>
      </p:sp>
      <p:sp>
        <p:nvSpPr>
          <p:cNvPr id="22" name="Shape 22"/>
          <p:cNvSpPr txBox="1"/>
          <p:nvPr/>
        </p:nvSpPr>
        <p:spPr>
          <a:xfrm>
            <a:off x="4608576" y="2921508"/>
            <a:ext cx="18836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223D4A"/>
                </a:solidFill>
                <a:latin typeface="DejaVu Sans"/>
                <a:ea typeface="DejaVu Sans"/>
              </a:rPr>
              <a:t>28/40</a:t>
            </a:r>
            <a:endParaRPr lang="en-US" sz="2300"/>
          </a:p>
        </p:txBody>
      </p:sp>
      <p:sp>
        <p:nvSpPr>
          <p:cNvPr id="23" name="Shape 23"/>
          <p:cNvSpPr txBox="1"/>
          <p:nvPr/>
        </p:nvSpPr>
        <p:spPr>
          <a:xfrm>
            <a:off x="6711696" y="2921508"/>
            <a:ext cx="224942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223D4A"/>
                </a:solidFill>
                <a:latin typeface="DejaVu Sans"/>
                <a:ea typeface="DejaVu Sans"/>
              </a:rPr>
              <a:t>24/40</a:t>
            </a:r>
            <a:endParaRPr lang="en-US" sz="2300"/>
          </a:p>
        </p:txBody>
      </p:sp>
      <p:sp>
        <p:nvSpPr>
          <p:cNvPr id="24" name="Shape 24"/>
          <p:cNvSpPr txBox="1"/>
          <p:nvPr/>
        </p:nvSpPr>
        <p:spPr>
          <a:xfrm>
            <a:off x="9180576" y="2921508"/>
            <a:ext cx="23408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0">
                <a:solidFill>
                  <a:srgbClr val="223D4A"/>
                </a:solidFill>
                <a:latin typeface="DejaVu Sans"/>
                <a:ea typeface="DejaVu Sans"/>
              </a:rPr>
              <a:t>$0.7765</a:t>
            </a:r>
            <a:endParaRPr lang="en-US" sz="2300"/>
          </a:p>
        </p:txBody>
      </p:sp>
      <p:sp>
        <p:nvSpPr>
          <p:cNvPr id="25" name="Shape 25"/>
          <p:cNvSpPr txBox="1"/>
          <p:nvPr/>
        </p:nvSpPr>
        <p:spPr>
          <a:xfrm>
            <a:off x="566928" y="3547872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676656" y="3598164"/>
            <a:ext cx="37124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0">
                <a:solidFill>
                  <a:srgbClr val="223D4A"/>
                </a:solidFill>
                <a:latin typeface="DejaVu Sans"/>
                <a:ea typeface="DejaVu Sans"/>
              </a:rPr>
              <a:t>Bounded / Luna book</a:t>
            </a:r>
            <a:endParaRPr lang="en-US" sz="2300"/>
          </a:p>
        </p:txBody>
      </p:sp>
      <p:sp>
        <p:nvSpPr>
          <p:cNvPr id="27" name="Shape 27"/>
          <p:cNvSpPr txBox="1"/>
          <p:nvPr/>
        </p:nvSpPr>
        <p:spPr>
          <a:xfrm>
            <a:off x="4608576" y="3598164"/>
            <a:ext cx="18836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223D4A"/>
                </a:solidFill>
                <a:latin typeface="DejaVu Sans"/>
                <a:ea typeface="DejaVu Sans"/>
              </a:rPr>
              <a:t>28/40</a:t>
            </a:r>
            <a:endParaRPr lang="en-US" sz="2300"/>
          </a:p>
        </p:txBody>
      </p:sp>
      <p:sp>
        <p:nvSpPr>
          <p:cNvPr id="28" name="Shape 28"/>
          <p:cNvSpPr txBox="1"/>
          <p:nvPr/>
        </p:nvSpPr>
        <p:spPr>
          <a:xfrm>
            <a:off x="6711696" y="3598164"/>
            <a:ext cx="224942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223D4A"/>
                </a:solidFill>
                <a:latin typeface="DejaVu Sans"/>
                <a:ea typeface="DejaVu Sans"/>
              </a:rPr>
              <a:t>27/40</a:t>
            </a:r>
            <a:endParaRPr lang="en-US" sz="2300"/>
          </a:p>
        </p:txBody>
      </p:sp>
      <p:sp>
        <p:nvSpPr>
          <p:cNvPr id="29" name="Shape 29"/>
          <p:cNvSpPr txBox="1"/>
          <p:nvPr/>
        </p:nvSpPr>
        <p:spPr>
          <a:xfrm>
            <a:off x="9180576" y="3598164"/>
            <a:ext cx="23408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300" b="0">
                <a:solidFill>
                  <a:srgbClr val="223D4A"/>
                </a:solidFill>
                <a:latin typeface="DejaVu Sans"/>
                <a:ea typeface="DejaVu Sans"/>
              </a:rPr>
              <a:t>$0.6672</a:t>
            </a:r>
            <a:endParaRPr lang="en-US" sz="2300"/>
          </a:p>
        </p:txBody>
      </p:sp>
      <p:sp>
        <p:nvSpPr>
          <p:cNvPr id="30" name="Shape 30"/>
          <p:cNvSpPr txBox="1"/>
          <p:nvPr/>
        </p:nvSpPr>
        <p:spPr>
          <a:xfrm>
            <a:off x="758952" y="4407408"/>
            <a:ext cx="10698480" cy="1508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Earlier → current no book:</a:t>
            </a: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 five training and three validation solves lost.</a:t>
            </a:r>
            <a:endParaRPr lang="en-US" sz="2000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Current no book → ACE:</a:t>
            </a: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 three validation solves recovered.</a:t>
            </a:r>
            <a:endParaRPr lang="en-US" sz="2000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Current ACE vs earlier program:</a:t>
            </a: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 same validation count; bill </a:t>
            </a: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24.8% lower</a:t>
            </a: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.</a:t>
            </a:r>
            <a:endParaRPr lang="en-US" sz="2000"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MATCHED ACE RESULT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Luna’s book helps here—but the signal is small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12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Luna / medium / $0.10 per problem / 64 requests / 300 verifier seconds.</a:t>
            </a:r>
            <a:endParaRPr lang="en-US" sz="1450"/>
          </a:p>
        </p:txBody>
      </p:sp>
      <p:pic>
        <p:nvPicPr>
          <p:cNvPr id="10" name="matched" descr="Observed data; standalone figure and source CSV provi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93" y="1618488"/>
            <a:ext cx="6188934" cy="4224528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6995160" y="1655064"/>
            <a:ext cx="22860" cy="4059936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296912" y="1746504"/>
            <a:ext cx="4215384" cy="39959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Question: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does this book help the bounded solver?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Observed: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24 → 27/40; three gains, no losses.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Economics: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$0.7765 → $0.6672; bill </a:t>
            </a: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−14.1%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Uncertain: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paired p = </a:t>
            </a: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0.25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.</a:t>
            </a:r>
            <a:endParaRPr lang="en-US" sz="2100"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LUNA / TERRA EXPERIMENT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The full crossover separates solver from book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13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Each cell is 40 validationX problems; costs include failures and exclude book preparation.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2999232" y="1581912"/>
            <a:ext cx="2642616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No book</a:t>
            </a:r>
            <a:endParaRPr lang="en-US" sz="2000"/>
          </a:p>
        </p:txBody>
      </p:sp>
      <p:sp>
        <p:nvSpPr>
          <p:cNvPr id="11" name="Shape 11"/>
          <p:cNvSpPr txBox="1"/>
          <p:nvPr/>
        </p:nvSpPr>
        <p:spPr>
          <a:xfrm>
            <a:off x="5888736" y="1581912"/>
            <a:ext cx="2642616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Luna book</a:t>
            </a:r>
            <a:endParaRPr lang="en-US" sz="2000"/>
          </a:p>
        </p:txBody>
      </p:sp>
      <p:sp>
        <p:nvSpPr>
          <p:cNvPr id="12" name="Shape 12"/>
          <p:cNvSpPr txBox="1"/>
          <p:nvPr/>
        </p:nvSpPr>
        <p:spPr>
          <a:xfrm>
            <a:off x="8778240" y="1581912"/>
            <a:ext cx="2642616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Terra book</a:t>
            </a:r>
            <a:endParaRPr lang="en-US" sz="2000"/>
          </a:p>
        </p:txBody>
      </p:sp>
      <p:sp>
        <p:nvSpPr>
          <p:cNvPr id="13" name="Shape 13"/>
          <p:cNvSpPr txBox="1"/>
          <p:nvPr/>
        </p:nvSpPr>
        <p:spPr>
          <a:xfrm>
            <a:off x="649224" y="2185416"/>
            <a:ext cx="2011680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007E80"/>
                </a:solidFill>
                <a:latin typeface="DejaVu Sans"/>
                <a:ea typeface="DejaVu Sans"/>
              </a:rPr>
              <a:t>Luna solver</a:t>
            </a:r>
            <a:endParaRPr lang="en-US" sz="2100"/>
          </a:p>
        </p:txBody>
      </p:sp>
      <p:sp>
        <p:nvSpPr>
          <p:cNvPr id="14" name="Shape 14"/>
          <p:cNvSpPr txBox="1"/>
          <p:nvPr/>
        </p:nvSpPr>
        <p:spPr>
          <a:xfrm>
            <a:off x="649224" y="2697480"/>
            <a:ext cx="2011680" cy="32918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526A76"/>
                </a:solidFill>
                <a:latin typeface="DejaVu Sans"/>
                <a:ea typeface="DejaVu Sans"/>
              </a:rPr>
              <a:t>$0.10 cap</a:t>
            </a:r>
            <a:endParaRPr lang="en-US" sz="1700"/>
          </a:p>
        </p:txBody>
      </p:sp>
      <p:sp>
        <p:nvSpPr>
          <p:cNvPr id="15" name="Shape 15"/>
          <p:cNvSpPr txBox="1"/>
          <p:nvPr/>
        </p:nvSpPr>
        <p:spPr>
          <a:xfrm>
            <a:off x="2916936" y="2066544"/>
            <a:ext cx="2752344" cy="107899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3026664" y="2194560"/>
            <a:ext cx="2532888" cy="47548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24 / 40</a:t>
            </a:r>
            <a:endParaRPr lang="en-US" sz="3000"/>
          </a:p>
        </p:txBody>
      </p:sp>
      <p:sp>
        <p:nvSpPr>
          <p:cNvPr id="17" name="Shape 17"/>
          <p:cNvSpPr txBox="1"/>
          <p:nvPr/>
        </p:nvSpPr>
        <p:spPr>
          <a:xfrm>
            <a:off x="3026664" y="2779776"/>
            <a:ext cx="2532888" cy="28346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526A76"/>
                </a:solidFill>
                <a:latin typeface="DejaVu Sans"/>
                <a:ea typeface="DejaVu Sans"/>
              </a:rPr>
              <a:t>$0.7765</a:t>
            </a:r>
            <a:endParaRPr lang="en-US" sz="1700"/>
          </a:p>
        </p:txBody>
      </p:sp>
      <p:sp>
        <p:nvSpPr>
          <p:cNvPr id="18" name="Shape 18"/>
          <p:cNvSpPr txBox="1"/>
          <p:nvPr/>
        </p:nvSpPr>
        <p:spPr>
          <a:xfrm>
            <a:off x="5806440" y="2066544"/>
            <a:ext cx="2752344" cy="1078992"/>
          </a:xfrm>
          <a:prstGeom prst="roundRect">
            <a:avLst>
              <a:gd name="adj" fmla="val 6500"/>
            </a:avLst>
          </a:prstGeom>
          <a:solidFill>
            <a:srgbClr val="E5F1E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916168" y="2194560"/>
            <a:ext cx="2532888" cy="47548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27 / 40</a:t>
            </a:r>
            <a:endParaRPr lang="en-US" sz="3000"/>
          </a:p>
        </p:txBody>
      </p:sp>
      <p:sp>
        <p:nvSpPr>
          <p:cNvPr id="20" name="Shape 20"/>
          <p:cNvSpPr txBox="1"/>
          <p:nvPr/>
        </p:nvSpPr>
        <p:spPr>
          <a:xfrm>
            <a:off x="5916168" y="2779776"/>
            <a:ext cx="2532888" cy="28346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526A76"/>
                </a:solidFill>
                <a:latin typeface="DejaVu Sans"/>
                <a:ea typeface="DejaVu Sans"/>
              </a:rPr>
              <a:t>$0.6672</a:t>
            </a:r>
            <a:endParaRPr lang="en-US" sz="1700"/>
          </a:p>
        </p:txBody>
      </p:sp>
      <p:sp>
        <p:nvSpPr>
          <p:cNvPr id="21" name="Shape 21"/>
          <p:cNvSpPr txBox="1"/>
          <p:nvPr/>
        </p:nvSpPr>
        <p:spPr>
          <a:xfrm>
            <a:off x="8695944" y="2066544"/>
            <a:ext cx="2752344" cy="107899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8805672" y="2194560"/>
            <a:ext cx="2532888" cy="47548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24 / 40</a:t>
            </a:r>
            <a:endParaRPr lang="en-US" sz="3000"/>
          </a:p>
        </p:txBody>
      </p:sp>
      <p:sp>
        <p:nvSpPr>
          <p:cNvPr id="23" name="Shape 23"/>
          <p:cNvSpPr txBox="1"/>
          <p:nvPr/>
        </p:nvSpPr>
        <p:spPr>
          <a:xfrm>
            <a:off x="8805672" y="2779776"/>
            <a:ext cx="2532888" cy="28346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526A76"/>
                </a:solidFill>
                <a:latin typeface="DejaVu Sans"/>
                <a:ea typeface="DejaVu Sans"/>
              </a:rPr>
              <a:t>$0.7342</a:t>
            </a:r>
            <a:endParaRPr lang="en-US" sz="1700"/>
          </a:p>
        </p:txBody>
      </p:sp>
      <p:sp>
        <p:nvSpPr>
          <p:cNvPr id="24" name="Shape 24"/>
          <p:cNvSpPr txBox="1"/>
          <p:nvPr/>
        </p:nvSpPr>
        <p:spPr>
          <a:xfrm>
            <a:off x="649224" y="3410712"/>
            <a:ext cx="2011680" cy="365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D38B32"/>
                </a:solidFill>
                <a:latin typeface="DejaVu Sans"/>
                <a:ea typeface="DejaVu Sans"/>
              </a:rPr>
              <a:t>Terra solver</a:t>
            </a:r>
            <a:endParaRPr lang="en-US" sz="2100"/>
          </a:p>
        </p:txBody>
      </p:sp>
      <p:sp>
        <p:nvSpPr>
          <p:cNvPr id="25" name="Shape 25"/>
          <p:cNvSpPr txBox="1"/>
          <p:nvPr/>
        </p:nvSpPr>
        <p:spPr>
          <a:xfrm>
            <a:off x="649224" y="3922776"/>
            <a:ext cx="2011680" cy="32918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526A76"/>
                </a:solidFill>
                <a:latin typeface="DejaVu Sans"/>
                <a:ea typeface="DejaVu Sans"/>
              </a:rPr>
              <a:t>$1.00 cap</a:t>
            </a:r>
            <a:endParaRPr lang="en-US" sz="1700"/>
          </a:p>
        </p:txBody>
      </p:sp>
      <p:sp>
        <p:nvSpPr>
          <p:cNvPr id="26" name="Shape 26"/>
          <p:cNvSpPr txBox="1"/>
          <p:nvPr/>
        </p:nvSpPr>
        <p:spPr>
          <a:xfrm>
            <a:off x="2916936" y="3291840"/>
            <a:ext cx="2752344" cy="107899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3026664" y="3419856"/>
            <a:ext cx="2532888" cy="47548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29 / 40</a:t>
            </a:r>
            <a:endParaRPr lang="en-US" sz="3000"/>
          </a:p>
        </p:txBody>
      </p:sp>
      <p:sp>
        <p:nvSpPr>
          <p:cNvPr id="28" name="Shape 28"/>
          <p:cNvSpPr txBox="1"/>
          <p:nvPr/>
        </p:nvSpPr>
        <p:spPr>
          <a:xfrm>
            <a:off x="3026664" y="4005072"/>
            <a:ext cx="2532888" cy="28346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526A76"/>
                </a:solidFill>
                <a:latin typeface="DejaVu Sans"/>
                <a:ea typeface="DejaVu Sans"/>
              </a:rPr>
              <a:t>$6.6106</a:t>
            </a:r>
            <a:endParaRPr lang="en-US" sz="1700"/>
          </a:p>
        </p:txBody>
      </p:sp>
      <p:sp>
        <p:nvSpPr>
          <p:cNvPr id="29" name="Shape 29"/>
          <p:cNvSpPr txBox="1"/>
          <p:nvPr/>
        </p:nvSpPr>
        <p:spPr>
          <a:xfrm>
            <a:off x="5806440" y="3291840"/>
            <a:ext cx="2752344" cy="107899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30" name="Shape 30"/>
          <p:cNvSpPr txBox="1"/>
          <p:nvPr/>
        </p:nvSpPr>
        <p:spPr>
          <a:xfrm>
            <a:off x="5916168" y="3419856"/>
            <a:ext cx="2532888" cy="47548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29 / 40</a:t>
            </a:r>
            <a:endParaRPr lang="en-US" sz="3000"/>
          </a:p>
        </p:txBody>
      </p:sp>
      <p:sp>
        <p:nvSpPr>
          <p:cNvPr id="31" name="Shape 31"/>
          <p:cNvSpPr txBox="1"/>
          <p:nvPr/>
        </p:nvSpPr>
        <p:spPr>
          <a:xfrm>
            <a:off x="5916168" y="4005072"/>
            <a:ext cx="2532888" cy="28346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526A76"/>
                </a:solidFill>
                <a:latin typeface="DejaVu Sans"/>
                <a:ea typeface="DejaVu Sans"/>
              </a:rPr>
              <a:t>$6.8523</a:t>
            </a:r>
            <a:endParaRPr lang="en-US" sz="1700"/>
          </a:p>
        </p:txBody>
      </p:sp>
      <p:sp>
        <p:nvSpPr>
          <p:cNvPr id="32" name="Shape 32"/>
          <p:cNvSpPr txBox="1"/>
          <p:nvPr/>
        </p:nvSpPr>
        <p:spPr>
          <a:xfrm>
            <a:off x="8695944" y="3291840"/>
            <a:ext cx="2752344" cy="1078992"/>
          </a:xfrm>
          <a:prstGeom prst="roundRect">
            <a:avLst>
              <a:gd name="adj" fmla="val 6500"/>
            </a:avLst>
          </a:prstGeom>
          <a:solidFill>
            <a:srgbClr val="E5F1EF"/>
          </a:solidFill>
          <a:ln w="7000">
            <a:solidFill>
              <a:srgbClr val="DCE5E7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8805672" y="3419856"/>
            <a:ext cx="2532888" cy="47548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30 / 40</a:t>
            </a:r>
            <a:endParaRPr lang="en-US" sz="3000"/>
          </a:p>
        </p:txBody>
      </p:sp>
      <p:sp>
        <p:nvSpPr>
          <p:cNvPr id="34" name="Shape 34"/>
          <p:cNvSpPr txBox="1"/>
          <p:nvPr/>
        </p:nvSpPr>
        <p:spPr>
          <a:xfrm>
            <a:off x="8805672" y="4005072"/>
            <a:ext cx="2532888" cy="28346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0">
                <a:solidFill>
                  <a:srgbClr val="526A76"/>
                </a:solidFill>
                <a:latin typeface="DejaVu Sans"/>
                <a:ea typeface="DejaVu Sans"/>
              </a:rPr>
              <a:t>$6.4513</a:t>
            </a:r>
            <a:endParaRPr lang="en-US" sz="1700"/>
          </a:p>
        </p:txBody>
      </p:sp>
      <p:sp>
        <p:nvSpPr>
          <p:cNvPr id="35" name="Shape 35"/>
          <p:cNvSpPr txBox="1"/>
          <p:nvPr/>
        </p:nvSpPr>
        <p:spPr>
          <a:xfrm>
            <a:off x="786384" y="4791456"/>
            <a:ext cx="10698480" cy="103327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3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Same Luna book: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+3 solves for Luna, </a:t>
            </a: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+0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for Terra.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3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Terra-written book: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no gain for Luna; </a:t>
            </a: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+1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for Terra.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3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Own-book Terra: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</a:t>
            </a: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9.67×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the bill for three more validation solves.</a:t>
            </a:r>
            <a:endParaRPr lang="en-US" sz="1850"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INTERPRETATION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What the Luna / Terra experiment changes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14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350" b="1">
                <a:solidFill>
                  <a:srgbClr val="007E80"/>
                </a:solidFill>
                <a:latin typeface="DejaVu Sans"/>
                <a:ea typeface="DejaVu Sans"/>
              </a:rPr>
              <a:t>The study does not establish that model scale unlocks ACE; an intrinsic model ceiling also remains unproven.</a:t>
            </a:r>
            <a:endParaRPr lang="en-US" sz="13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566928" y="1755648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7724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00" b="1">
                <a:solidFill>
                  <a:srgbClr val="007E80"/>
                </a:solidFill>
                <a:latin typeface="DejaVu Sans"/>
                <a:ea typeface="DejaVu Sans"/>
              </a:rPr>
              <a:t>Stronger solver: yes, more coverage</a:t>
            </a:r>
            <a:endParaRPr lang="en-US" sz="1800"/>
          </a:p>
        </p:txBody>
      </p:sp>
      <p:sp>
        <p:nvSpPr>
          <p:cNvPr id="13" name="Shape 13"/>
          <p:cNvSpPr txBox="1"/>
          <p:nvPr/>
        </p:nvSpPr>
        <p:spPr>
          <a:xfrm>
            <a:off x="77724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Without ACE: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Terra 29/40; Luna 24/40.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Cost matters: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Terra uses a $1.00 cap and recorded tariffs ×10.</a:t>
            </a:r>
            <a:endParaRPr lang="en-US" sz="1850"/>
          </a:p>
        </p:txBody>
      </p:sp>
      <p:sp>
        <p:nvSpPr>
          <p:cNvPr id="14" name="Shape 14"/>
          <p:cNvSpPr txBox="1"/>
          <p:nvPr/>
        </p:nvSpPr>
        <p:spPr>
          <a:xfrm>
            <a:off x="623620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236208" y="1755648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44652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Stronger writer: no clear unlock</a:t>
            </a:r>
            <a:endParaRPr lang="en-US" sz="2000"/>
          </a:p>
        </p:txBody>
      </p:sp>
      <p:sp>
        <p:nvSpPr>
          <p:cNvPr id="17" name="Shape 17"/>
          <p:cNvSpPr txBox="1"/>
          <p:nvPr/>
        </p:nvSpPr>
        <p:spPr>
          <a:xfrm>
            <a:off x="644652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Luna + Terra book: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24/40, matching no book.</a:t>
            </a:r>
            <a:endParaRPr lang="en-US" sz="19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Terra + own book: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only 29 → 30/40.</a:t>
            </a:r>
            <a:endParaRPr lang="en-US" sz="1900"/>
          </a:p>
        </p:txBody>
      </p:sp>
      <p:sp>
        <p:nvSpPr>
          <p:cNvPr id="18" name="Shape 18"/>
          <p:cNvSpPr txBox="1"/>
          <p:nvPr/>
        </p:nvSpPr>
        <p:spPr>
          <a:xfrm>
            <a:off x="56692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66928" y="3977640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7724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25" b="1">
                <a:solidFill>
                  <a:srgbClr val="007E80"/>
                </a:solidFill>
                <a:latin typeface="DejaVu Sans"/>
                <a:ea typeface="DejaVu Sans"/>
              </a:rPr>
              <a:t>Training success vs book usefulness</a:t>
            </a:r>
            <a:endParaRPr lang="en-US" sz="1825"/>
          </a:p>
        </p:txBody>
      </p:sp>
      <p:sp>
        <p:nvSpPr>
          <p:cNvPr id="21" name="Shape 21"/>
          <p:cNvSpPr txBox="1"/>
          <p:nvPr/>
        </p:nvSpPr>
        <p:spPr>
          <a:xfrm>
            <a:off x="77724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Generator: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Terra 38/40; Luna 33/40.</a:t>
            </a:r>
            <a:endParaRPr lang="en-US" sz="19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Transfer still needs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valid, relevant advice that the solver uses.</a:t>
            </a:r>
            <a:endParaRPr lang="en-US" sz="1900"/>
          </a:p>
        </p:txBody>
      </p:sp>
      <p:sp>
        <p:nvSpPr>
          <p:cNvPr id="22" name="Shape 22"/>
          <p:cNvSpPr txBox="1"/>
          <p:nvPr/>
        </p:nvSpPr>
        <p:spPr>
          <a:xfrm>
            <a:off x="623620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236208" y="3977640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644652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Next inference to test</a:t>
            </a:r>
            <a:endParaRPr lang="en-US" sz="2000"/>
          </a:p>
        </p:txBody>
      </p:sp>
      <p:sp>
        <p:nvSpPr>
          <p:cNvPr id="25" name="Shape 25"/>
          <p:cNvSpPr txBox="1"/>
          <p:nvPr/>
        </p:nvSpPr>
        <p:spPr>
          <a:xfrm>
            <a:off x="644652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Target exposed bottlenecks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in evidence or completion.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Larger models and more writing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do not guarantee an ACE gain.</a:t>
            </a:r>
            <a:endParaRPr lang="en-US" sz="1850"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THE 38/40 RESULT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Yes: Terra achieved 38/40 during book creation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15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00" b="1">
                <a:solidFill>
                  <a:srgbClr val="007E80"/>
                </a:solidFill>
                <a:latin typeface="DejaVu Sans"/>
                <a:ea typeface="DejaVu Sans"/>
              </a:rPr>
              <a:t>38 → 32 compares two training executions; 30/40 is a different partition, not another measured decline.</a:t>
            </a:r>
            <a:endParaRPr lang="en-US" sz="1400"/>
          </a:p>
        </p:txBody>
      </p:sp>
      <p:pic>
        <p:nvPicPr>
          <p:cNvPr id="10" name="training_gap" descr="Observed data; standalone figure and source CSV provi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6100"/>
            <a:ext cx="6446520" cy="3889303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6995160" y="1655064"/>
            <a:ext cx="22860" cy="4059936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296912" y="1746504"/>
            <a:ext cx="4215384" cy="39959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38/40 on trainX: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the book evolved between batches.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Generator bill: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$5.9984 for all 40 tasks.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Full preparation: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$8.0992, including writers and embeddings.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Frozen book: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trainX </a:t>
            </a: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32/40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; validationX </a:t>
            </a: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30/40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.</a:t>
            </a:r>
            <a:endParaRPr lang="en-US" sz="2100"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CONTROLLER AND CONTEXT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850" b="1">
                <a:solidFill>
                  <a:srgbClr val="142C3B"/>
                </a:solidFill>
                <a:latin typeface="DejaVu Sans"/>
                <a:ea typeface="DejaVu Sans"/>
              </a:rPr>
              <a:t>Why did 38 become 32? What we know—and do not</a:t>
            </a:r>
            <a:endParaRPr lang="en-US" sz="285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16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The gap motivates diagnosis; it does not show that the finished book destroyed six proofs.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566928" y="1755648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7724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75" b="1">
                <a:solidFill>
                  <a:srgbClr val="007E80"/>
                </a:solidFill>
                <a:latin typeface="DejaVu Sans"/>
                <a:ea typeface="DejaVu Sans"/>
              </a:rPr>
              <a:t>Known change · request admission</a:t>
            </a:r>
            <a:endParaRPr lang="en-US" sz="1875"/>
          </a:p>
        </p:txBody>
      </p:sp>
      <p:sp>
        <p:nvSpPr>
          <p:cNvPr id="13" name="Shape 13"/>
          <p:cNvSpPr txBox="1"/>
          <p:nvPr/>
        </p:nvSpPr>
        <p:spPr>
          <a:xfrm>
            <a:off x="77724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Training: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32 requests; stop after a budget crossing.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Evaluation: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up to 64; reservations can deny the next call.</a:t>
            </a:r>
            <a:endParaRPr lang="en-US" sz="1850"/>
          </a:p>
        </p:txBody>
      </p:sp>
      <p:sp>
        <p:nvSpPr>
          <p:cNvPr id="14" name="Shape 14"/>
          <p:cNvSpPr txBox="1"/>
          <p:nvPr/>
        </p:nvSpPr>
        <p:spPr>
          <a:xfrm>
            <a:off x="623620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236208" y="1755648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44652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Known change · context</a:t>
            </a:r>
            <a:endParaRPr lang="en-US" sz="2000"/>
          </a:p>
        </p:txBody>
      </p:sp>
      <p:sp>
        <p:nvSpPr>
          <p:cNvPr id="17" name="Shape 17"/>
          <p:cNvSpPr txBox="1"/>
          <p:nvPr/>
        </p:nvSpPr>
        <p:spPr>
          <a:xfrm>
            <a:off x="644652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Training: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evolving book; older proof loop.</a:t>
            </a:r>
            <a:endParaRPr lang="en-US" sz="18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Evaluation: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frozen book; focused queries and bounded verifier feedback.</a:t>
            </a:r>
            <a:endParaRPr lang="en-US" sz="1800"/>
          </a:p>
        </p:txBody>
      </p:sp>
      <p:sp>
        <p:nvSpPr>
          <p:cNvPr id="18" name="Shape 18"/>
          <p:cNvSpPr txBox="1"/>
          <p:nvPr/>
        </p:nvSpPr>
        <p:spPr>
          <a:xfrm>
            <a:off x="56692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66928" y="3977640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7724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75" b="1">
                <a:solidFill>
                  <a:srgbClr val="007E80"/>
                </a:solidFill>
                <a:latin typeface="DejaVu Sans"/>
                <a:ea typeface="DejaVu Sans"/>
              </a:rPr>
              <a:t>Known issue · completion is fragile</a:t>
            </a:r>
            <a:endParaRPr lang="en-US" sz="1875"/>
          </a:p>
        </p:txBody>
      </p:sp>
      <p:sp>
        <p:nvSpPr>
          <p:cNvPr id="21" name="Shape 21"/>
          <p:cNvSpPr txBox="1"/>
          <p:nvPr/>
        </p:nvSpPr>
        <p:spPr>
          <a:xfrm>
            <a:off x="77724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Unfinished progress: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time limits, parsing and final submission matter.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More nominal requests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do not guarantee useful admitted work.</a:t>
            </a:r>
            <a:endParaRPr lang="en-US" sz="1850"/>
          </a:p>
        </p:txBody>
      </p:sp>
      <p:sp>
        <p:nvSpPr>
          <p:cNvPr id="22" name="Shape 22"/>
          <p:cNvSpPr txBox="1"/>
          <p:nvPr/>
        </p:nvSpPr>
        <p:spPr>
          <a:xfrm>
            <a:off x="623620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236208" y="3977640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644652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75" b="1">
                <a:solidFill>
                  <a:srgbClr val="142C3B"/>
                </a:solidFill>
                <a:latin typeface="DejaVu Sans"/>
                <a:ea typeface="DejaVu Sans"/>
              </a:rPr>
              <a:t>Unknown · the causal breakdown</a:t>
            </a:r>
            <a:endParaRPr lang="en-US" sz="1975"/>
          </a:p>
        </p:txBody>
      </p:sp>
      <p:sp>
        <p:nvSpPr>
          <p:cNvPr id="25" name="Shape 25"/>
          <p:cNvSpPr txBox="1"/>
          <p:nvPr/>
        </p:nvSpPr>
        <p:spPr>
          <a:xfrm>
            <a:off x="644652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Different sampled trajectories: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this is not a paired controller ablation.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Six net solves lost ≠ six proven reservation failures.</a:t>
            </a:r>
            <a:endParaRPr lang="en-US" sz="1850"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ECONOMICS / PREPARATION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Creating a book is a real up-front expense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17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Preparation and inference are separate bills; generation is the largest preparation component.</a:t>
            </a:r>
            <a:endParaRPr lang="en-US" sz="1450"/>
          </a:p>
        </p:txBody>
      </p:sp>
      <p:pic>
        <p:nvPicPr>
          <p:cNvPr id="10" name="preparation" descr="Observed data; standalone figure and source CSV provi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1768"/>
            <a:ext cx="6446520" cy="4217968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6995160" y="1655064"/>
            <a:ext cx="22860" cy="4059936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296912" y="1746504"/>
            <a:ext cx="4215384" cy="39959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Luna: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≥ $0.9169; historical embeddings unknown.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Terra: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$8.0992; </a:t>
            </a: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8.83×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Luna’s known cost.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26 bullets each;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below the 4,000-token guard.</a:t>
            </a:r>
            <a:endParaRPr lang="en-US" sz="2100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Payback requires</a:t>
            </a: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 useful lessons to survive reduction.</a:t>
            </a:r>
            <a:endParaRPr lang="en-US" sz="2100"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ECONOMICS / WHOLE PANEL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850" b="1">
                <a:solidFill>
                  <a:srgbClr val="142C3B"/>
                </a:solidFill>
                <a:latin typeface="DejaVu Sans"/>
                <a:ea typeface="DejaVu Sans"/>
              </a:rPr>
              <a:t>Spent versus solved: the actual recorded staircase</a:t>
            </a:r>
            <a:endParaRPr lang="en-US" sz="285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18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Luna endpoints: 24 / $0.7765 vs 27 / $0.6672. Terra: 29 / $6.6106 vs 30 / $6.4513.</a:t>
            </a:r>
            <a:endParaRPr lang="en-US" sz="1450"/>
          </a:p>
        </p:txBody>
      </p:sp>
      <p:pic>
        <p:nvPicPr>
          <p:cNvPr id="10" name="spend" descr="Observed data; standalone figure and source CSV provi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49057"/>
            <a:ext cx="10972800" cy="3494711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777240" y="5093208"/>
            <a:ext cx="10698480" cy="78638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Right without up: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 money spent without a solve.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Up: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 a qualified proof.</a:t>
            </a:r>
            <a:endParaRPr lang="en-US" sz="1750"/>
          </a:p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Fixed task order; all 40 costs.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 Accounting paths, not simulated smaller-cap runs.</a:t>
            </a:r>
            <a:endParaRPr lang="en-US" sz="1750"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ECONOMICS / SENSITIVITY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950" b="1">
                <a:solidFill>
                  <a:srgbClr val="142C3B"/>
                </a:solidFill>
                <a:latin typeface="DejaVu Sans"/>
                <a:ea typeface="DejaVu Sans"/>
              </a:rPr>
              <a:t>Cache discounts change the economic conclusion</a:t>
            </a:r>
            <a:endParaRPr lang="en-US" sz="295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19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The saving is real at the observed tariff; it cannot all be attributed to less computation.</a:t>
            </a:r>
            <a:endParaRPr lang="en-US" sz="1450"/>
          </a:p>
        </p:txBody>
      </p:sp>
      <p:pic>
        <p:nvPicPr>
          <p:cNvPr id="10" name="cache" descr="Observed data; standalone figure and source CSV provi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20263"/>
            <a:ext cx="6446520" cy="3220979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6995160" y="1655064"/>
            <a:ext cx="22860" cy="4059936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296912" y="1746504"/>
            <a:ext cx="4215384" cy="39959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075" b="1">
                <a:solidFill>
                  <a:srgbClr val="223D4A"/>
                </a:solidFill>
                <a:latin typeface="DejaVu Sans"/>
                <a:ea typeface="DejaVu Sans"/>
              </a:rPr>
              <a:t>Observed Luna bill:</a:t>
            </a:r>
            <a:r>
              <a:rPr lang="en-US" sz="2075" b="0">
                <a:solidFill>
                  <a:srgbClr val="223D4A"/>
                </a:solidFill>
                <a:latin typeface="DejaVu Sans"/>
                <a:ea typeface="DejaVu Sans"/>
              </a:rPr>
              <a:t> ACE saves </a:t>
            </a:r>
            <a:r>
              <a:rPr lang="en-US" sz="2075" b="1">
                <a:solidFill>
                  <a:srgbClr val="223D4A"/>
                </a:solidFill>
                <a:latin typeface="DejaVu Sans"/>
                <a:ea typeface="DejaVu Sans"/>
              </a:rPr>
              <a:t>14.1%</a:t>
            </a:r>
            <a:r>
              <a:rPr lang="en-US" sz="2075" b="0">
                <a:solidFill>
                  <a:srgbClr val="223D4A"/>
                </a:solidFill>
                <a:latin typeface="DejaVu Sans"/>
                <a:ea typeface="DejaVu Sans"/>
              </a:rPr>
              <a:t>.</a:t>
            </a:r>
            <a:endParaRPr lang="en-US" sz="2075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075" b="1">
                <a:solidFill>
                  <a:srgbClr val="223D4A"/>
                </a:solidFill>
                <a:latin typeface="DejaVu Sans"/>
                <a:ea typeface="DejaVu Sans"/>
              </a:rPr>
              <a:t>No cache discount:</a:t>
            </a:r>
            <a:r>
              <a:rPr lang="en-US" sz="2075" b="0">
                <a:solidFill>
                  <a:srgbClr val="223D4A"/>
                </a:solidFill>
                <a:latin typeface="DejaVu Sans"/>
                <a:ea typeface="DejaVu Sans"/>
              </a:rPr>
              <a:t> the same tokens cost </a:t>
            </a:r>
            <a:r>
              <a:rPr lang="en-US" sz="2075" b="1">
                <a:solidFill>
                  <a:srgbClr val="223D4A"/>
                </a:solidFill>
                <a:latin typeface="DejaVu Sans"/>
                <a:ea typeface="DejaVu Sans"/>
              </a:rPr>
              <a:t>1.45% more</a:t>
            </a:r>
            <a:r>
              <a:rPr lang="en-US" sz="2075" b="0">
                <a:solidFill>
                  <a:srgbClr val="223D4A"/>
                </a:solidFill>
                <a:latin typeface="DejaVu Sans"/>
                <a:ea typeface="DejaVu Sans"/>
              </a:rPr>
              <a:t> with ACE.</a:t>
            </a:r>
            <a:endParaRPr lang="en-US" sz="2075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075" b="1">
                <a:solidFill>
                  <a:srgbClr val="223D4A"/>
                </a:solidFill>
                <a:latin typeface="DejaVu Sans"/>
                <a:ea typeface="DejaVu Sans"/>
              </a:rPr>
              <a:t>Cached share:</a:t>
            </a:r>
            <a:r>
              <a:rPr lang="en-US" sz="2075" b="0">
                <a:solidFill>
                  <a:srgbClr val="223D4A"/>
                </a:solidFill>
                <a:latin typeface="DejaVu Sans"/>
                <a:ea typeface="DejaVu Sans"/>
              </a:rPr>
              <a:t> 64.6% → </a:t>
            </a:r>
            <a:r>
              <a:rPr lang="en-US" sz="2075" b="1">
                <a:solidFill>
                  <a:srgbClr val="223D4A"/>
                </a:solidFill>
                <a:latin typeface="DejaVu Sans"/>
                <a:ea typeface="DejaVu Sans"/>
              </a:rPr>
              <a:t>75.9%</a:t>
            </a:r>
            <a:r>
              <a:rPr lang="en-US" sz="2075" b="0">
                <a:solidFill>
                  <a:srgbClr val="223D4A"/>
                </a:solidFill>
                <a:latin typeface="DejaVu Sans"/>
                <a:ea typeface="DejaVu Sans"/>
              </a:rPr>
              <a:t>; token use rises slightly.</a:t>
            </a:r>
            <a:endParaRPr lang="en-US" sz="2075"/>
          </a:p>
          <a:p>
            <a:pPr algn="l" marL="164592" indent="-164592">
              <a:lnSpc>
                <a:spcPct val="107000"/>
              </a:lnSpc>
              <a:spcAft>
                <a:spcPts val="1200"/>
              </a:spcAft>
              <a:buFont typeface="DejaVu Sans"/>
              <a:buChar char="•"/>
            </a:pPr>
            <a:r>
              <a:rPr lang="en-US" sz="2075" b="1">
                <a:solidFill>
                  <a:srgbClr val="223D4A"/>
                </a:solidFill>
                <a:latin typeface="DejaVu Sans"/>
                <a:ea typeface="DejaVu Sans"/>
              </a:rPr>
              <a:t>Terra:</a:t>
            </a:r>
            <a:r>
              <a:rPr lang="en-US" sz="2075" b="0">
                <a:solidFill>
                  <a:srgbClr val="223D4A"/>
                </a:solidFill>
                <a:latin typeface="DejaVu Sans"/>
                <a:ea typeface="DejaVu Sans"/>
              </a:rPr>
              <a:t> own-book uncached sensitivity is </a:t>
            </a:r>
            <a:r>
              <a:rPr lang="en-US" sz="2075" b="1">
                <a:solidFill>
                  <a:srgbClr val="223D4A"/>
                </a:solidFill>
                <a:latin typeface="DejaVu Sans"/>
                <a:ea typeface="DejaVu Sans"/>
              </a:rPr>
              <a:t>+8.51%</a:t>
            </a:r>
            <a:r>
              <a:rPr lang="en-US" sz="2075" b="0">
                <a:solidFill>
                  <a:srgbClr val="223D4A"/>
                </a:solidFill>
                <a:latin typeface="DejaVu Sans"/>
                <a:ea typeface="DejaVu Sans"/>
              </a:rPr>
              <a:t>.</a:t>
            </a:r>
            <a:endParaRPr lang="en-US" sz="2075"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MISTAKES AND LESSONS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Four failure mechanisms behind weak transfer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20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Capture → validate → retain → expose → use → finish. A failure anywhere can erase the benefit.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566928" y="1755648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7724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1 · The wrong successful ending</a:t>
            </a:r>
            <a:endParaRPr lang="en-US" sz="2000"/>
          </a:p>
        </p:txBody>
      </p:sp>
      <p:sp>
        <p:nvSpPr>
          <p:cNvPr id="13" name="Shape 13"/>
          <p:cNvSpPr txBox="1"/>
          <p:nvPr/>
        </p:nvSpPr>
        <p:spPr>
          <a:xfrm>
            <a:off x="77724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Accepted ending: nia.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Missing from the last proposed script.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Risk: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teach a different action from the one that closed the proof.</a:t>
            </a:r>
            <a:endParaRPr lang="en-US" sz="1850"/>
          </a:p>
        </p:txBody>
      </p:sp>
      <p:sp>
        <p:nvSpPr>
          <p:cNvPr id="14" name="Shape 14"/>
          <p:cNvSpPr txBox="1"/>
          <p:nvPr/>
        </p:nvSpPr>
        <p:spPr>
          <a:xfrm>
            <a:off x="623620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236208" y="1755648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44652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2 · Invalid syntax in a valid idea</a:t>
            </a:r>
            <a:endParaRPr lang="en-US" sz="2000"/>
          </a:p>
        </p:txBody>
      </p:sp>
      <p:sp>
        <p:nvSpPr>
          <p:cNvPr id="17" name="Shape 17"/>
          <p:cNvSpPr txBox="1"/>
          <p:nvPr/>
        </p:nvSpPr>
        <p:spPr>
          <a:xfrm>
            <a:off x="644652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Reducer: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valid assert becomes rejected have syntax around Rle_0_sqr.</a:t>
            </a:r>
            <a:endParaRPr lang="en-US" sz="18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Name lookup is insufficient: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verify the snippet in its source context.</a:t>
            </a:r>
            <a:endParaRPr lang="en-US" sz="1800"/>
          </a:p>
        </p:txBody>
      </p:sp>
      <p:sp>
        <p:nvSpPr>
          <p:cNvPr id="18" name="Shape 18"/>
          <p:cNvSpPr txBox="1"/>
          <p:nvPr/>
        </p:nvSpPr>
        <p:spPr>
          <a:xfrm>
            <a:off x="56692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66928" y="3977640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7724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75" b="1">
                <a:solidFill>
                  <a:srgbClr val="007E80"/>
                </a:solidFill>
                <a:latin typeface="DejaVu Sans"/>
                <a:ea typeface="DejaVu Sans"/>
              </a:rPr>
              <a:t>3 · A mechanism that never arrives</a:t>
            </a:r>
            <a:endParaRPr lang="en-US" sz="1875"/>
          </a:p>
        </p:txBody>
      </p:sp>
      <p:sp>
        <p:nvSpPr>
          <p:cNvPr id="21" name="Shape 21"/>
          <p:cNvSpPr txBox="1"/>
          <p:nvPr/>
        </p:nvSpPr>
        <p:spPr>
          <a:xfrm>
            <a:off x="77724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51 parse failures; 33 duplicates.</a:t>
            </a:r>
            <a:endParaRPr lang="en-US" sz="19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Concatenated final messages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break parsing; evaluate the fix separately.</a:t>
            </a:r>
            <a:endParaRPr lang="en-US" sz="1900"/>
          </a:p>
        </p:txBody>
      </p:sp>
      <p:sp>
        <p:nvSpPr>
          <p:cNvPr id="22" name="Shape 22"/>
          <p:cNvSpPr txBox="1"/>
          <p:nvPr/>
        </p:nvSpPr>
        <p:spPr>
          <a:xfrm>
            <a:off x="623620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236208" y="3977640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644652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25" b="1">
                <a:solidFill>
                  <a:srgbClr val="142C3B"/>
                </a:solidFill>
                <a:latin typeface="DejaVu Sans"/>
                <a:ea typeface="DejaVu Sans"/>
              </a:rPr>
              <a:t>4 · Shorter context, longer search</a:t>
            </a:r>
            <a:endParaRPr lang="en-US" sz="1925"/>
          </a:p>
        </p:txBody>
      </p:sp>
      <p:sp>
        <p:nvSpPr>
          <p:cNvPr id="25" name="Shape 25"/>
          <p:cNvSpPr txBox="1"/>
          <p:nvPr/>
        </p:nvSpPr>
        <p:spPr>
          <a:xfrm>
            <a:off x="644652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Compaction: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repeated tool calls; sometimes no proof submission.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Local savings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can lose useful memory and completion opportunity.</a:t>
            </a:r>
            <a:endParaRPr lang="en-US" sz="1850"/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EXACT CONTINUATIONS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850" b="1">
                <a:solidFill>
                  <a:srgbClr val="142C3B"/>
                </a:solidFill>
                <a:latin typeface="DejaVu Sans"/>
                <a:ea typeface="DejaVu Sans"/>
              </a:rPr>
              <a:t>More allowance recovered Terra proofs, then stalled</a:t>
            </a:r>
            <a:endParaRPr lang="en-US" sz="285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21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The final plateau is not evidence of an unrestricted model-capability ceiling.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2953512" y="1600200"/>
            <a:ext cx="2724912" cy="49377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00" b="1">
                <a:solidFill>
                  <a:srgbClr val="142C3B"/>
                </a:solidFill>
                <a:latin typeface="DejaVu Sans"/>
                <a:ea typeface="DejaVu Sans"/>
              </a:rPr>
              <a:t>Original allowance</a:t>
            </a:r>
            <a:endParaRPr lang="en-US" sz="1800"/>
          </a:p>
        </p:txBody>
      </p:sp>
      <p:sp>
        <p:nvSpPr>
          <p:cNvPr id="11" name="Shape 11"/>
          <p:cNvSpPr txBox="1"/>
          <p:nvPr/>
        </p:nvSpPr>
        <p:spPr>
          <a:xfrm>
            <a:off x="5843016" y="1600200"/>
            <a:ext cx="2724912" cy="49377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00" b="1">
                <a:solidFill>
                  <a:srgbClr val="142C3B"/>
                </a:solidFill>
                <a:latin typeface="DejaVu Sans"/>
                <a:ea typeface="DejaVu Sans"/>
              </a:rPr>
              <a:t>2× money</a:t>
            </a:r>
            <a:endParaRPr lang="en-US" sz="1800"/>
          </a:p>
        </p:txBody>
      </p:sp>
      <p:sp>
        <p:nvSpPr>
          <p:cNvPr id="12" name="Shape 12"/>
          <p:cNvSpPr txBox="1"/>
          <p:nvPr/>
        </p:nvSpPr>
        <p:spPr>
          <a:xfrm>
            <a:off x="8732520" y="1600200"/>
            <a:ext cx="2724912" cy="49377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1">
                <a:solidFill>
                  <a:srgbClr val="142C3B"/>
                </a:solidFill>
                <a:latin typeface="DejaVu Sans"/>
                <a:ea typeface="DejaVu Sans"/>
              </a:rPr>
              <a:t>Also 2× requests / time</a:t>
            </a:r>
            <a:endParaRPr lang="en-US" sz="1700"/>
          </a:p>
        </p:txBody>
      </p:sp>
      <p:sp>
        <p:nvSpPr>
          <p:cNvPr id="13" name="Shape 13"/>
          <p:cNvSpPr txBox="1"/>
          <p:nvPr/>
        </p:nvSpPr>
        <p:spPr>
          <a:xfrm>
            <a:off x="640080" y="2350008"/>
            <a:ext cx="2231136" cy="3566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Luna · no ACE</a:t>
            </a:r>
            <a:endParaRPr lang="en-US" sz="1700"/>
          </a:p>
        </p:txBody>
      </p:sp>
      <p:sp>
        <p:nvSpPr>
          <p:cNvPr id="14" name="Shape 14"/>
          <p:cNvSpPr txBox="1"/>
          <p:nvPr/>
        </p:nvSpPr>
        <p:spPr>
          <a:xfrm>
            <a:off x="2935224" y="2249424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3044952" y="2331720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4 / 8</a:t>
            </a:r>
            <a:endParaRPr lang="en-US" sz="2100"/>
          </a:p>
        </p:txBody>
      </p:sp>
      <p:sp>
        <p:nvSpPr>
          <p:cNvPr id="16" name="Shape 16"/>
          <p:cNvSpPr txBox="1"/>
          <p:nvPr/>
        </p:nvSpPr>
        <p:spPr>
          <a:xfrm>
            <a:off x="5824728" y="2249424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5934456" y="2331720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4 / 8</a:t>
            </a:r>
            <a:endParaRPr lang="en-US" sz="2100"/>
          </a:p>
        </p:txBody>
      </p:sp>
      <p:sp>
        <p:nvSpPr>
          <p:cNvPr id="18" name="Shape 18"/>
          <p:cNvSpPr txBox="1"/>
          <p:nvPr/>
        </p:nvSpPr>
        <p:spPr>
          <a:xfrm>
            <a:off x="8714232" y="2249424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8823960" y="2331720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4 / 8</a:t>
            </a:r>
            <a:endParaRPr lang="en-US" sz="2100"/>
          </a:p>
        </p:txBody>
      </p:sp>
      <p:sp>
        <p:nvSpPr>
          <p:cNvPr id="20" name="Shape 20"/>
          <p:cNvSpPr txBox="1"/>
          <p:nvPr/>
        </p:nvSpPr>
        <p:spPr>
          <a:xfrm>
            <a:off x="640080" y="2871216"/>
            <a:ext cx="2231136" cy="3566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Luna · book*</a:t>
            </a:r>
            <a:endParaRPr lang="en-US" sz="1700"/>
          </a:p>
        </p:txBody>
      </p:sp>
      <p:sp>
        <p:nvSpPr>
          <p:cNvPr id="21" name="Shape 21"/>
          <p:cNvSpPr txBox="1"/>
          <p:nvPr/>
        </p:nvSpPr>
        <p:spPr>
          <a:xfrm>
            <a:off x="2935224" y="2770632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2" name="Shape 22"/>
          <p:cNvSpPr txBox="1"/>
          <p:nvPr/>
        </p:nvSpPr>
        <p:spPr>
          <a:xfrm>
            <a:off x="3044952" y="2852928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3 / 8</a:t>
            </a:r>
            <a:endParaRPr lang="en-US" sz="2100"/>
          </a:p>
        </p:txBody>
      </p:sp>
      <p:sp>
        <p:nvSpPr>
          <p:cNvPr id="23" name="Shape 23"/>
          <p:cNvSpPr txBox="1"/>
          <p:nvPr/>
        </p:nvSpPr>
        <p:spPr>
          <a:xfrm>
            <a:off x="5824728" y="2770632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5934456" y="2852928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3 / 8</a:t>
            </a:r>
            <a:endParaRPr lang="en-US" sz="2100"/>
          </a:p>
        </p:txBody>
      </p:sp>
      <p:sp>
        <p:nvSpPr>
          <p:cNvPr id="25" name="Shape 25"/>
          <p:cNvSpPr txBox="1"/>
          <p:nvPr/>
        </p:nvSpPr>
        <p:spPr>
          <a:xfrm>
            <a:off x="8714232" y="2770632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8823960" y="2852928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3 / 8</a:t>
            </a:r>
            <a:endParaRPr lang="en-US" sz="2100"/>
          </a:p>
        </p:txBody>
      </p:sp>
      <p:sp>
        <p:nvSpPr>
          <p:cNvPr id="27" name="Shape 27"/>
          <p:cNvSpPr txBox="1"/>
          <p:nvPr/>
        </p:nvSpPr>
        <p:spPr>
          <a:xfrm>
            <a:off x="640080" y="3392424"/>
            <a:ext cx="2231136" cy="3566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Terra · no ACE</a:t>
            </a:r>
            <a:endParaRPr lang="en-US" sz="1700"/>
          </a:p>
        </p:txBody>
      </p:sp>
      <p:sp>
        <p:nvSpPr>
          <p:cNvPr id="28" name="Shape 28"/>
          <p:cNvSpPr txBox="1"/>
          <p:nvPr/>
        </p:nvSpPr>
        <p:spPr>
          <a:xfrm>
            <a:off x="2935224" y="3291840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9" name="Shape 29"/>
          <p:cNvSpPr txBox="1"/>
          <p:nvPr/>
        </p:nvSpPr>
        <p:spPr>
          <a:xfrm>
            <a:off x="3044952" y="3374136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4 / 8</a:t>
            </a:r>
            <a:endParaRPr lang="en-US" sz="2100"/>
          </a:p>
        </p:txBody>
      </p:sp>
      <p:sp>
        <p:nvSpPr>
          <p:cNvPr id="30" name="Shape 30"/>
          <p:cNvSpPr txBox="1"/>
          <p:nvPr/>
        </p:nvSpPr>
        <p:spPr>
          <a:xfrm>
            <a:off x="5824728" y="3291840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E5F1EF"/>
          </a:solidFill>
          <a:ln w="7000"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5934456" y="3374136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007E80"/>
                </a:solidFill>
                <a:latin typeface="DejaVu Sans"/>
                <a:ea typeface="DejaVu Sans"/>
              </a:rPr>
              <a:t>6 / 8</a:t>
            </a:r>
            <a:endParaRPr lang="en-US" sz="2100"/>
          </a:p>
        </p:txBody>
      </p:sp>
      <p:sp>
        <p:nvSpPr>
          <p:cNvPr id="32" name="Shape 32"/>
          <p:cNvSpPr txBox="1"/>
          <p:nvPr/>
        </p:nvSpPr>
        <p:spPr>
          <a:xfrm>
            <a:off x="8714232" y="3291840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E5F1EF"/>
          </a:solidFill>
          <a:ln w="7000">
            <a:noFill/>
          </a:ln>
        </p:spPr>
      </p:sp>
      <p:sp>
        <p:nvSpPr>
          <p:cNvPr id="33" name="Shape 33"/>
          <p:cNvSpPr txBox="1"/>
          <p:nvPr/>
        </p:nvSpPr>
        <p:spPr>
          <a:xfrm>
            <a:off x="8823960" y="3374136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007E80"/>
                </a:solidFill>
                <a:latin typeface="DejaVu Sans"/>
                <a:ea typeface="DejaVu Sans"/>
              </a:rPr>
              <a:t>6 / 8</a:t>
            </a:r>
            <a:endParaRPr lang="en-US" sz="2100"/>
          </a:p>
        </p:txBody>
      </p:sp>
      <p:sp>
        <p:nvSpPr>
          <p:cNvPr id="34" name="Shape 34"/>
          <p:cNvSpPr txBox="1"/>
          <p:nvPr/>
        </p:nvSpPr>
        <p:spPr>
          <a:xfrm>
            <a:off x="640080" y="3913632"/>
            <a:ext cx="2231136" cy="35661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700" b="1">
                <a:solidFill>
                  <a:srgbClr val="223D4A"/>
                </a:solidFill>
                <a:latin typeface="DejaVu Sans"/>
                <a:ea typeface="DejaVu Sans"/>
              </a:rPr>
              <a:t>Terra · book*</a:t>
            </a:r>
            <a:endParaRPr lang="en-US" sz="1700"/>
          </a:p>
        </p:txBody>
      </p:sp>
      <p:sp>
        <p:nvSpPr>
          <p:cNvPr id="35" name="Shape 35"/>
          <p:cNvSpPr txBox="1"/>
          <p:nvPr/>
        </p:nvSpPr>
        <p:spPr>
          <a:xfrm>
            <a:off x="2935224" y="3813048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36" name="Shape 36"/>
          <p:cNvSpPr txBox="1"/>
          <p:nvPr/>
        </p:nvSpPr>
        <p:spPr>
          <a:xfrm>
            <a:off x="3044952" y="3895344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42C3B"/>
                </a:solidFill>
                <a:latin typeface="DejaVu Sans"/>
                <a:ea typeface="DejaVu Sans"/>
              </a:rPr>
              <a:t>3 / 8</a:t>
            </a:r>
            <a:endParaRPr lang="en-US" sz="2100"/>
          </a:p>
        </p:txBody>
      </p:sp>
      <p:sp>
        <p:nvSpPr>
          <p:cNvPr id="37" name="Shape 37"/>
          <p:cNvSpPr txBox="1"/>
          <p:nvPr/>
        </p:nvSpPr>
        <p:spPr>
          <a:xfrm>
            <a:off x="5824728" y="3813048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E5F1EF"/>
          </a:solidFill>
          <a:ln w="7000">
            <a:noFill/>
          </a:ln>
        </p:spPr>
      </p:sp>
      <p:sp>
        <p:nvSpPr>
          <p:cNvPr id="38" name="Shape 38"/>
          <p:cNvSpPr txBox="1"/>
          <p:nvPr/>
        </p:nvSpPr>
        <p:spPr>
          <a:xfrm>
            <a:off x="5934456" y="3895344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007E80"/>
                </a:solidFill>
                <a:latin typeface="DejaVu Sans"/>
                <a:ea typeface="DejaVu Sans"/>
              </a:rPr>
              <a:t>7 / 8</a:t>
            </a:r>
            <a:endParaRPr lang="en-US" sz="2100"/>
          </a:p>
        </p:txBody>
      </p:sp>
      <p:sp>
        <p:nvSpPr>
          <p:cNvPr id="39" name="Shape 39"/>
          <p:cNvSpPr txBox="1"/>
          <p:nvPr/>
        </p:nvSpPr>
        <p:spPr>
          <a:xfrm>
            <a:off x="8714232" y="3813048"/>
            <a:ext cx="2743200" cy="457200"/>
          </a:xfrm>
          <a:prstGeom prst="roundRect">
            <a:avLst>
              <a:gd name="adj" fmla="val 6500"/>
            </a:avLst>
          </a:prstGeom>
          <a:solidFill>
            <a:srgbClr val="E5F1EF"/>
          </a:solidFill>
          <a:ln w="7000">
            <a:noFill/>
          </a:ln>
        </p:spPr>
      </p:sp>
      <p:sp>
        <p:nvSpPr>
          <p:cNvPr id="40" name="Shape 40"/>
          <p:cNvSpPr txBox="1"/>
          <p:nvPr/>
        </p:nvSpPr>
        <p:spPr>
          <a:xfrm>
            <a:off x="8823960" y="3895344"/>
            <a:ext cx="2523744" cy="3383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007E80"/>
                </a:solidFill>
                <a:latin typeface="DejaVu Sans"/>
                <a:ea typeface="DejaVu Sans"/>
              </a:rPr>
              <a:t>7 / 8</a:t>
            </a:r>
            <a:endParaRPr lang="en-US" sz="2100"/>
          </a:p>
        </p:txBody>
      </p:sp>
      <p:sp>
        <p:nvSpPr>
          <p:cNvPr id="41" name="Shape 41"/>
          <p:cNvSpPr txBox="1"/>
          <p:nvPr/>
        </p:nvSpPr>
        <p:spPr>
          <a:xfrm>
            <a:off x="704088" y="4453128"/>
            <a:ext cx="10789920" cy="44805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550" b="0">
                <a:solidFill>
                  <a:srgbClr val="526A76"/>
                </a:solidFill>
                <a:latin typeface="DejaVu Sans"/>
                <a:ea typeface="DejaVu Sans"/>
              </a:rPr>
              <a:t>Caps: Luna $0.10 → $0.20 → $0.20; Terra $1 → $2 → $2.  *Corrected own-book context.</a:t>
            </a:r>
            <a:endParaRPr lang="en-US" sz="1550"/>
          </a:p>
        </p:txBody>
      </p:sp>
      <p:sp>
        <p:nvSpPr>
          <p:cNvPr id="42" name="Shape 42"/>
          <p:cNvSpPr txBox="1"/>
          <p:nvPr/>
        </p:nvSpPr>
        <p:spPr>
          <a:xfrm>
            <a:off x="768096" y="4928616"/>
            <a:ext cx="10744200" cy="95097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650" b="1">
                <a:solidFill>
                  <a:srgbClr val="223D4A"/>
                </a:solidFill>
                <a:latin typeface="DejaVu Sans"/>
                <a:ea typeface="DejaVu Sans"/>
              </a:rPr>
              <a:t>Same paid prefixes:</a:t>
            </a:r>
            <a:r>
              <a:rPr lang="en-US" sz="1650" b="0">
                <a:solidFill>
                  <a:srgbClr val="223D4A"/>
                </a:solidFill>
                <a:latin typeface="DejaVu Sans"/>
                <a:ea typeface="DejaVu Sans"/>
              </a:rPr>
              <a:t> eight selected trainX problems; no fresh restarts.</a:t>
            </a:r>
            <a:endParaRPr lang="en-US" sz="1650"/>
          </a:p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650" b="1">
                <a:solidFill>
                  <a:srgbClr val="223D4A"/>
                </a:solidFill>
                <a:latin typeface="DejaVu Sans"/>
                <a:ea typeface="DejaVu Sans"/>
              </a:rPr>
              <a:t>Extra money:</a:t>
            </a:r>
            <a:r>
              <a:rPr lang="en-US" sz="1650" b="0">
                <a:solidFill>
                  <a:srgbClr val="223D4A"/>
                </a:solidFill>
                <a:latin typeface="DejaVu Sans"/>
                <a:ea typeface="DejaVu Sans"/>
              </a:rPr>
              <a:t> Luna unchanged; Terra gains </a:t>
            </a:r>
            <a:r>
              <a:rPr lang="en-US" sz="1650" b="1">
                <a:solidFill>
                  <a:srgbClr val="223D4A"/>
                </a:solidFill>
                <a:latin typeface="DejaVu Sans"/>
                <a:ea typeface="DejaVu Sans"/>
              </a:rPr>
              <a:t>+2 / +4</a:t>
            </a:r>
            <a:r>
              <a:rPr lang="en-US" sz="1650" b="0">
                <a:solidFill>
                  <a:srgbClr val="223D4A"/>
                </a:solidFill>
                <a:latin typeface="DejaVu Sans"/>
                <a:ea typeface="DejaVu Sans"/>
              </a:rPr>
              <a:t> solves.</a:t>
            </a:r>
            <a:endParaRPr lang="en-US" sz="1650"/>
          </a:p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650" b="1">
                <a:solidFill>
                  <a:srgbClr val="223D4A"/>
                </a:solidFill>
                <a:latin typeface="DejaVu Sans"/>
                <a:ea typeface="DejaVu Sans"/>
              </a:rPr>
              <a:t>Then no extra solves:</a:t>
            </a:r>
            <a:r>
              <a:rPr lang="en-US" sz="1650" b="0">
                <a:solidFill>
                  <a:srgbClr val="223D4A"/>
                </a:solidFill>
                <a:latin typeface="DejaVu Sans"/>
                <a:ea typeface="DejaVu Sans"/>
              </a:rPr>
              <a:t> 11 residual paths face money denial; one carries an API failure.</a:t>
            </a:r>
            <a:endParaRPr lang="en-US" sz="1650"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LATEST COMPLETED CYCLE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850" b="1">
                <a:solidFill>
                  <a:srgbClr val="142C3B"/>
                </a:solidFill>
                <a:latin typeface="DejaVu Sans"/>
                <a:ea typeface="DejaVu Sans"/>
              </a:rPr>
              <a:t>13 September: the first completion fixes did not win</a:t>
            </a:r>
            <a:endParaRPr lang="en-US" sz="285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22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350" b="1">
                <a:solidFill>
                  <a:srgbClr val="007E80"/>
                </a:solidFill>
                <a:latin typeface="DejaVu Sans"/>
                <a:ea typeface="DejaVu Sans"/>
              </a:rPr>
              <a:t>A reduces the response cap from 32,768 to 4,096 tokens. Completed cycle; ongoing code work is unscored.</a:t>
            </a:r>
            <a:endParaRPr lang="en-US" sz="13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35295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Treatment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4425696" y="1655064"/>
            <a:ext cx="188366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trainX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6528816" y="1655064"/>
            <a:ext cx="234086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validationX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9089136" y="1655064"/>
            <a:ext cx="24323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Validation bill</a:t>
            </a:r>
            <a:endParaRPr lang="en-US" sz="1450"/>
          </a:p>
        </p:txBody>
      </p:sp>
      <p:sp>
        <p:nvSpPr>
          <p:cNvPr id="15" name="Shape 15"/>
          <p:cNvSpPr txBox="1"/>
          <p:nvPr/>
        </p:nvSpPr>
        <p:spPr>
          <a:xfrm>
            <a:off x="566928" y="2194560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76656" y="2244852"/>
            <a:ext cx="35295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Historical reference</a:t>
            </a:r>
            <a:endParaRPr lang="en-US" sz="2100"/>
          </a:p>
        </p:txBody>
      </p:sp>
      <p:sp>
        <p:nvSpPr>
          <p:cNvPr id="17" name="Shape 17"/>
          <p:cNvSpPr txBox="1"/>
          <p:nvPr/>
        </p:nvSpPr>
        <p:spPr>
          <a:xfrm>
            <a:off x="4425696" y="2244852"/>
            <a:ext cx="18836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28/40</a:t>
            </a:r>
            <a:endParaRPr lang="en-US" sz="2100"/>
          </a:p>
        </p:txBody>
      </p:sp>
      <p:sp>
        <p:nvSpPr>
          <p:cNvPr id="18" name="Shape 18"/>
          <p:cNvSpPr txBox="1"/>
          <p:nvPr/>
        </p:nvSpPr>
        <p:spPr>
          <a:xfrm>
            <a:off x="6528816" y="2244852"/>
            <a:ext cx="23408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27/40</a:t>
            </a:r>
            <a:endParaRPr lang="en-US" sz="2100"/>
          </a:p>
        </p:txBody>
      </p:sp>
      <p:sp>
        <p:nvSpPr>
          <p:cNvPr id="19" name="Shape 19"/>
          <p:cNvSpPr txBox="1"/>
          <p:nvPr/>
        </p:nvSpPr>
        <p:spPr>
          <a:xfrm>
            <a:off x="9089136" y="2244852"/>
            <a:ext cx="243230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$0.6672</a:t>
            </a:r>
            <a:endParaRPr lang="en-US" sz="2100"/>
          </a:p>
        </p:txBody>
      </p:sp>
      <p:sp>
        <p:nvSpPr>
          <p:cNvPr id="20" name="Shape 20"/>
          <p:cNvSpPr txBox="1"/>
          <p:nvPr/>
        </p:nvSpPr>
        <p:spPr>
          <a:xfrm>
            <a:off x="566928" y="2871216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1" name="Shape 21"/>
          <p:cNvSpPr txBox="1"/>
          <p:nvPr/>
        </p:nvSpPr>
        <p:spPr>
          <a:xfrm>
            <a:off x="676656" y="2921508"/>
            <a:ext cx="35295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A · output cap 4,096</a:t>
            </a:r>
            <a:endParaRPr lang="en-US" sz="2100"/>
          </a:p>
        </p:txBody>
      </p:sp>
      <p:sp>
        <p:nvSpPr>
          <p:cNvPr id="22" name="Shape 22"/>
          <p:cNvSpPr txBox="1"/>
          <p:nvPr/>
        </p:nvSpPr>
        <p:spPr>
          <a:xfrm>
            <a:off x="4425696" y="2921508"/>
            <a:ext cx="18836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1">
                <a:solidFill>
                  <a:srgbClr val="223D4A"/>
                </a:solidFill>
                <a:latin typeface="DejaVu Sans"/>
                <a:ea typeface="DejaVu Sans"/>
              </a:rPr>
              <a:t>30/40</a:t>
            </a:r>
            <a:endParaRPr lang="en-US" sz="2100"/>
          </a:p>
        </p:txBody>
      </p:sp>
      <p:sp>
        <p:nvSpPr>
          <p:cNvPr id="23" name="Shape 23"/>
          <p:cNvSpPr txBox="1"/>
          <p:nvPr/>
        </p:nvSpPr>
        <p:spPr>
          <a:xfrm>
            <a:off x="6528816" y="2921508"/>
            <a:ext cx="23408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26/40</a:t>
            </a:r>
            <a:endParaRPr lang="en-US" sz="2100"/>
          </a:p>
        </p:txBody>
      </p:sp>
      <p:sp>
        <p:nvSpPr>
          <p:cNvPr id="24" name="Shape 24"/>
          <p:cNvSpPr txBox="1"/>
          <p:nvPr/>
        </p:nvSpPr>
        <p:spPr>
          <a:xfrm>
            <a:off x="9089136" y="2921508"/>
            <a:ext cx="243230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$1.1281</a:t>
            </a:r>
            <a:endParaRPr lang="en-US" sz="2100"/>
          </a:p>
        </p:txBody>
      </p:sp>
      <p:sp>
        <p:nvSpPr>
          <p:cNvPr id="25" name="Shape 25"/>
          <p:cNvSpPr txBox="1"/>
          <p:nvPr/>
        </p:nvSpPr>
        <p:spPr>
          <a:xfrm>
            <a:off x="566928" y="3547872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676656" y="3598164"/>
            <a:ext cx="35295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25" b="0">
                <a:solidFill>
                  <a:srgbClr val="223D4A"/>
                </a:solidFill>
                <a:latin typeface="DejaVu Sans"/>
                <a:ea typeface="DejaVu Sans"/>
              </a:rPr>
              <a:t>B · corrected continuation</a:t>
            </a:r>
            <a:endParaRPr lang="en-US" sz="2025"/>
          </a:p>
        </p:txBody>
      </p:sp>
      <p:sp>
        <p:nvSpPr>
          <p:cNvPr id="27" name="Shape 27"/>
          <p:cNvSpPr txBox="1"/>
          <p:nvPr/>
        </p:nvSpPr>
        <p:spPr>
          <a:xfrm>
            <a:off x="4425696" y="3598164"/>
            <a:ext cx="18836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25/40</a:t>
            </a:r>
            <a:endParaRPr lang="en-US" sz="2100"/>
          </a:p>
        </p:txBody>
      </p:sp>
      <p:sp>
        <p:nvSpPr>
          <p:cNvPr id="28" name="Shape 28"/>
          <p:cNvSpPr txBox="1"/>
          <p:nvPr/>
        </p:nvSpPr>
        <p:spPr>
          <a:xfrm>
            <a:off x="6528816" y="3598164"/>
            <a:ext cx="234086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23/40</a:t>
            </a:r>
            <a:endParaRPr lang="en-US" sz="2100"/>
          </a:p>
        </p:txBody>
      </p:sp>
      <p:sp>
        <p:nvSpPr>
          <p:cNvPr id="29" name="Shape 29"/>
          <p:cNvSpPr txBox="1"/>
          <p:nvPr/>
        </p:nvSpPr>
        <p:spPr>
          <a:xfrm>
            <a:off x="9089136" y="3598164"/>
            <a:ext cx="243230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100" b="0">
                <a:solidFill>
                  <a:srgbClr val="223D4A"/>
                </a:solidFill>
                <a:latin typeface="DejaVu Sans"/>
                <a:ea typeface="DejaVu Sans"/>
              </a:rPr>
              <a:t>$0.7379</a:t>
            </a:r>
            <a:endParaRPr lang="en-US" sz="2100"/>
          </a:p>
        </p:txBody>
      </p:sp>
      <p:sp>
        <p:nvSpPr>
          <p:cNvPr id="30" name="Shape 30"/>
          <p:cNvSpPr txBox="1"/>
          <p:nvPr/>
        </p:nvSpPr>
        <p:spPr>
          <a:xfrm>
            <a:off x="758952" y="4407408"/>
            <a:ext cx="10698480" cy="1508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A exposed more search, but did not improve validation economics.</a:t>
            </a:r>
            <a:endParaRPr lang="en-US" sz="2000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Both gates failed:</a:t>
            </a: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 no selected follow-up; neither becomes the default.</a:t>
            </a:r>
            <a:endParaRPr lang="en-US" sz="2000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Cost:</a:t>
            </a: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 $3.6136 of a $30 ceiling; Luna / medium / $0.10 per problem.</a:t>
            </a:r>
            <a:endParaRPr lang="en-US" sz="2000"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RESEARCH DISCIPLINE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Are failed ideas inherited by later experiments?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23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25" b="1">
                <a:solidFill>
                  <a:srgbClr val="007E80"/>
                </a:solidFill>
                <a:latin typeface="DejaVu Sans"/>
                <a:ea typeface="DejaVu Sans"/>
              </a:rPr>
              <a:t>Optional treatments are isolated by switches; shared-code behavior still deserves regression checks.</a:t>
            </a:r>
            <a:endParaRPr lang="en-US" sz="1425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566928" y="1755648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7724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Stored in Git</a:t>
            </a:r>
            <a:endParaRPr lang="en-US" sz="2000"/>
          </a:p>
        </p:txBody>
      </p:sp>
      <p:sp>
        <p:nvSpPr>
          <p:cNvPr id="13" name="Shape 13"/>
          <p:cNvSpPr txBox="1"/>
          <p:nvPr/>
        </p:nvSpPr>
        <p:spPr>
          <a:xfrm>
            <a:off x="77724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Keep results, costs, books and candidate code.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A research commit does not establish a solver improvement.</a:t>
            </a:r>
            <a:endParaRPr lang="en-US" sz="1850"/>
          </a:p>
        </p:txBody>
      </p:sp>
      <p:sp>
        <p:nvSpPr>
          <p:cNvPr id="14" name="Shape 14"/>
          <p:cNvSpPr txBox="1"/>
          <p:nvPr/>
        </p:nvSpPr>
        <p:spPr>
          <a:xfrm>
            <a:off x="623620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236208" y="1755648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44652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Activated by configuration</a:t>
            </a:r>
            <a:endParaRPr lang="en-US" sz="2000"/>
          </a:p>
        </p:txBody>
      </p:sp>
      <p:sp>
        <p:nvSpPr>
          <p:cNvPr id="17" name="Shape 17"/>
          <p:cNvSpPr txBox="1"/>
          <p:nvPr/>
        </p:nvSpPr>
        <p:spPr>
          <a:xfrm>
            <a:off x="644652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Opt-in: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compaction, exploration, repair and continuation.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The next control retains the reference;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losing flags stay off.</a:t>
            </a:r>
            <a:endParaRPr lang="en-US" sz="1850"/>
          </a:p>
        </p:txBody>
      </p:sp>
      <p:sp>
        <p:nvSpPr>
          <p:cNvPr id="18" name="Shape 18"/>
          <p:cNvSpPr txBox="1"/>
          <p:nvPr/>
        </p:nvSpPr>
        <p:spPr>
          <a:xfrm>
            <a:off x="56692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66928" y="3977640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7724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What really is inherited</a:t>
            </a:r>
            <a:endParaRPr lang="en-US" sz="2000"/>
          </a:p>
        </p:txBody>
      </p:sp>
      <p:sp>
        <p:nvSpPr>
          <p:cNvPr id="21" name="Shape 21"/>
          <p:cNvSpPr txBox="1"/>
          <p:nvPr/>
        </p:nvSpPr>
        <p:spPr>
          <a:xfrm>
            <a:off x="77724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The accepted controller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and its cost / coverage compromise.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Shared code changes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can affect several configurations.</a:t>
            </a:r>
            <a:endParaRPr lang="en-US" sz="1850"/>
          </a:p>
        </p:txBody>
      </p:sp>
      <p:sp>
        <p:nvSpPr>
          <p:cNvPr id="22" name="Shape 22"/>
          <p:cNvSpPr txBox="1"/>
          <p:nvPr/>
        </p:nvSpPr>
        <p:spPr>
          <a:xfrm>
            <a:off x="623620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236208" y="3977640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644652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25" b="1">
                <a:solidFill>
                  <a:srgbClr val="142C3B"/>
                </a:solidFill>
                <a:latin typeface="DejaVu Sans"/>
                <a:ea typeface="DejaVu Sans"/>
              </a:rPr>
              <a:t>Remaining protection to strengthen</a:t>
            </a:r>
            <a:endParaRPr lang="en-US" sz="1825"/>
          </a:p>
        </p:txBody>
      </p:sp>
      <p:sp>
        <p:nvSpPr>
          <p:cNvPr id="25" name="Shape 25"/>
          <p:cNvSpPr txBox="1"/>
          <p:nvPr/>
        </p:nvSpPr>
        <p:spPr>
          <a:xfrm>
            <a:off x="644652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One explicit reference constructor;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preserve prompt identity.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Separate archive, fix and promotion;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check shared behavior.</a:t>
            </a:r>
            <a:endParaRPr lang="en-US" sz="1850"/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DISCUSSION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The thesis claim and the advisor decisions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24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Evaluate improvements by completed proofs and the whole bill, with mechanism exposure recorded.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566928" y="1755648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7724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Claim supported by the work</a:t>
            </a:r>
            <a:endParaRPr lang="en-US" sz="2000"/>
          </a:p>
        </p:txBody>
      </p:sp>
      <p:sp>
        <p:nvSpPr>
          <p:cNvPr id="13" name="Shape 13"/>
          <p:cNvSpPr txBox="1"/>
          <p:nvPr/>
        </p:nvSpPr>
        <p:spPr>
          <a:xfrm>
            <a:off x="77724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ACE in Delphyne: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explicit artifacts and verifier feedback.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Useful cost / coverage control;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concrete failure diagnoses.</a:t>
            </a:r>
            <a:endParaRPr lang="en-US" sz="1850"/>
          </a:p>
        </p:txBody>
      </p:sp>
      <p:sp>
        <p:nvSpPr>
          <p:cNvPr id="14" name="Shape 14"/>
          <p:cNvSpPr txBox="1"/>
          <p:nvPr/>
        </p:nvSpPr>
        <p:spPr>
          <a:xfrm>
            <a:off x="623620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236208" y="1755648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44652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Claim that stays open</a:t>
            </a:r>
            <a:endParaRPr lang="en-US" sz="2000"/>
          </a:p>
        </p:txBody>
      </p:sp>
      <p:sp>
        <p:nvSpPr>
          <p:cNvPr id="17" name="Shape 17"/>
          <p:cNvSpPr txBox="1"/>
          <p:nvPr/>
        </p:nvSpPr>
        <p:spPr>
          <a:xfrm>
            <a:off x="644652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A general, reproducible ACE coverage gain.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An intrinsic Luna ceiling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or a general stronger-writer advantage.</a:t>
            </a:r>
            <a:endParaRPr lang="en-US" sz="1850"/>
          </a:p>
        </p:txBody>
      </p:sp>
      <p:sp>
        <p:nvSpPr>
          <p:cNvPr id="18" name="Shape 18"/>
          <p:cNvSpPr txBox="1"/>
          <p:nvPr/>
        </p:nvSpPr>
        <p:spPr>
          <a:xfrm>
            <a:off x="56692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66928" y="3977640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7724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25" b="1">
                <a:solidFill>
                  <a:srgbClr val="007E80"/>
                </a:solidFill>
                <a:latin typeface="DejaVu Sans"/>
                <a:ea typeface="DejaVu Sans"/>
              </a:rPr>
              <a:t>Where further work earns its cost</a:t>
            </a:r>
            <a:endParaRPr lang="en-US" sz="1925"/>
          </a:p>
        </p:txBody>
      </p:sp>
      <p:sp>
        <p:nvSpPr>
          <p:cNvPr id="21" name="Shape 21"/>
          <p:cNvSpPr txBox="1"/>
          <p:nvPr/>
        </p:nvSpPr>
        <p:spPr>
          <a:xfrm>
            <a:off x="77724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75" b="1">
                <a:solidFill>
                  <a:srgbClr val="223D4A"/>
                </a:solidFill>
                <a:latin typeface="DejaVu Sans"/>
                <a:ea typeface="DejaVu Sans"/>
              </a:rPr>
              <a:t>Faithful, executable evidence.</a:t>
            </a:r>
            <a:endParaRPr lang="en-US" sz="1875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75" b="1">
                <a:solidFill>
                  <a:srgbClr val="223D4A"/>
                </a:solidFill>
                <a:latin typeface="DejaVu Sans"/>
                <a:ea typeface="DejaVu Sans"/>
              </a:rPr>
              <a:t>Local progress must become an accepted proof</a:t>
            </a:r>
            <a:r>
              <a:rPr lang="en-US" sz="1875" b="0">
                <a:solidFill>
                  <a:srgbClr val="223D4A"/>
                </a:solidFill>
                <a:latin typeface="DejaVu Sans"/>
                <a:ea typeface="DejaVu Sans"/>
              </a:rPr>
              <a:t> within the full budget.</a:t>
            </a:r>
            <a:endParaRPr lang="en-US" sz="1875"/>
          </a:p>
        </p:txBody>
      </p:sp>
      <p:sp>
        <p:nvSpPr>
          <p:cNvPr id="22" name="Shape 22"/>
          <p:cNvSpPr txBox="1"/>
          <p:nvPr/>
        </p:nvSpPr>
        <p:spPr>
          <a:xfrm>
            <a:off x="623620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236208" y="3977640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644652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Decisions for the meeting</a:t>
            </a:r>
            <a:endParaRPr lang="en-US" sz="2000"/>
          </a:p>
        </p:txBody>
      </p:sp>
      <p:sp>
        <p:nvSpPr>
          <p:cNvPr id="25" name="Shape 25"/>
          <p:cNvSpPr txBox="1"/>
          <p:nvPr/>
        </p:nvSpPr>
        <p:spPr>
          <a:xfrm>
            <a:off x="644652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Which cost / coverage trade-off serves the thesis?</a:t>
            </a:r>
            <a:endParaRPr lang="en-US" sz="18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What evidence is still needed?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Use trainX / validationX; testX stays closed.</a:t>
            </a:r>
            <a:endParaRPr lang="en-US" sz="1800"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BACKUP / EXACT VALUES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What are the exact crossover costs and caps?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B01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Luna / medium / $0.10 cap; Terra / medium / $1.00 cap; 64 requests and 300 verifier seconds.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16245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Solver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2520696" y="1655064"/>
            <a:ext cx="16245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Book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4364736" y="1655064"/>
            <a:ext cx="16245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Solves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6208776" y="1655064"/>
            <a:ext cx="25466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Panel bill</a:t>
            </a:r>
            <a:endParaRPr lang="en-US" sz="1450"/>
          </a:p>
        </p:txBody>
      </p:sp>
      <p:sp>
        <p:nvSpPr>
          <p:cNvPr id="15" name="Shape 15"/>
          <p:cNvSpPr txBox="1"/>
          <p:nvPr/>
        </p:nvSpPr>
        <p:spPr>
          <a:xfrm>
            <a:off x="8974836" y="1655064"/>
            <a:ext cx="25466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Bill / solve</a:t>
            </a:r>
            <a:endParaRPr lang="en-US" sz="1450"/>
          </a:p>
        </p:txBody>
      </p:sp>
      <p:sp>
        <p:nvSpPr>
          <p:cNvPr id="16" name="Shape 16"/>
          <p:cNvSpPr txBox="1"/>
          <p:nvPr/>
        </p:nvSpPr>
        <p:spPr>
          <a:xfrm>
            <a:off x="566928" y="2194560"/>
            <a:ext cx="11064240" cy="37490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676656" y="2244852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Luna</a:t>
            </a:r>
            <a:endParaRPr lang="en-US" sz="2000"/>
          </a:p>
        </p:txBody>
      </p:sp>
      <p:sp>
        <p:nvSpPr>
          <p:cNvPr id="18" name="Shape 18"/>
          <p:cNvSpPr txBox="1"/>
          <p:nvPr/>
        </p:nvSpPr>
        <p:spPr>
          <a:xfrm>
            <a:off x="2520696" y="2244852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None</a:t>
            </a:r>
            <a:endParaRPr lang="en-US" sz="2000"/>
          </a:p>
        </p:txBody>
      </p:sp>
      <p:sp>
        <p:nvSpPr>
          <p:cNvPr id="19" name="Shape 19"/>
          <p:cNvSpPr txBox="1"/>
          <p:nvPr/>
        </p:nvSpPr>
        <p:spPr>
          <a:xfrm>
            <a:off x="4364736" y="2244852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24/40</a:t>
            </a:r>
            <a:endParaRPr lang="en-US" sz="2000"/>
          </a:p>
        </p:txBody>
      </p:sp>
      <p:sp>
        <p:nvSpPr>
          <p:cNvPr id="20" name="Shape 20"/>
          <p:cNvSpPr txBox="1"/>
          <p:nvPr/>
        </p:nvSpPr>
        <p:spPr>
          <a:xfrm>
            <a:off x="6208776" y="2244852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$0.776512</a:t>
            </a:r>
            <a:endParaRPr lang="en-US" sz="2000"/>
          </a:p>
        </p:txBody>
      </p:sp>
      <p:sp>
        <p:nvSpPr>
          <p:cNvPr id="21" name="Shape 21"/>
          <p:cNvSpPr txBox="1"/>
          <p:nvPr/>
        </p:nvSpPr>
        <p:spPr>
          <a:xfrm>
            <a:off x="8974836" y="2244852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$0.032355</a:t>
            </a:r>
            <a:endParaRPr lang="en-US" sz="2000"/>
          </a:p>
        </p:txBody>
      </p:sp>
      <p:sp>
        <p:nvSpPr>
          <p:cNvPr id="22" name="Shape 22"/>
          <p:cNvSpPr txBox="1"/>
          <p:nvPr/>
        </p:nvSpPr>
        <p:spPr>
          <a:xfrm>
            <a:off x="566928" y="2601468"/>
            <a:ext cx="11064240" cy="37490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676656" y="2651760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Luna</a:t>
            </a:r>
            <a:endParaRPr lang="en-US" sz="2000"/>
          </a:p>
        </p:txBody>
      </p:sp>
      <p:sp>
        <p:nvSpPr>
          <p:cNvPr id="24" name="Shape 24"/>
          <p:cNvSpPr txBox="1"/>
          <p:nvPr/>
        </p:nvSpPr>
        <p:spPr>
          <a:xfrm>
            <a:off x="2520696" y="2651760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Luna</a:t>
            </a:r>
            <a:endParaRPr lang="en-US" sz="2000"/>
          </a:p>
        </p:txBody>
      </p:sp>
      <p:sp>
        <p:nvSpPr>
          <p:cNvPr id="25" name="Shape 25"/>
          <p:cNvSpPr txBox="1"/>
          <p:nvPr/>
        </p:nvSpPr>
        <p:spPr>
          <a:xfrm>
            <a:off x="4364736" y="2651760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27/40</a:t>
            </a:r>
            <a:endParaRPr lang="en-US" sz="2000"/>
          </a:p>
        </p:txBody>
      </p:sp>
      <p:sp>
        <p:nvSpPr>
          <p:cNvPr id="26" name="Shape 26"/>
          <p:cNvSpPr txBox="1"/>
          <p:nvPr/>
        </p:nvSpPr>
        <p:spPr>
          <a:xfrm>
            <a:off x="6208776" y="2651760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$0.667228</a:t>
            </a:r>
            <a:endParaRPr lang="en-US" sz="2000"/>
          </a:p>
        </p:txBody>
      </p:sp>
      <p:sp>
        <p:nvSpPr>
          <p:cNvPr id="27" name="Shape 27"/>
          <p:cNvSpPr txBox="1"/>
          <p:nvPr/>
        </p:nvSpPr>
        <p:spPr>
          <a:xfrm>
            <a:off x="8974836" y="2651760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$0.024712</a:t>
            </a:r>
            <a:endParaRPr lang="en-US" sz="2000"/>
          </a:p>
        </p:txBody>
      </p:sp>
      <p:sp>
        <p:nvSpPr>
          <p:cNvPr id="28" name="Shape 28"/>
          <p:cNvSpPr txBox="1"/>
          <p:nvPr/>
        </p:nvSpPr>
        <p:spPr>
          <a:xfrm>
            <a:off x="566928" y="3008376"/>
            <a:ext cx="11064240" cy="37490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9" name="Shape 29"/>
          <p:cNvSpPr txBox="1"/>
          <p:nvPr/>
        </p:nvSpPr>
        <p:spPr>
          <a:xfrm>
            <a:off x="676656" y="3058668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Luna</a:t>
            </a:r>
            <a:endParaRPr lang="en-US" sz="2000"/>
          </a:p>
        </p:txBody>
      </p:sp>
      <p:sp>
        <p:nvSpPr>
          <p:cNvPr id="30" name="Shape 30"/>
          <p:cNvSpPr txBox="1"/>
          <p:nvPr/>
        </p:nvSpPr>
        <p:spPr>
          <a:xfrm>
            <a:off x="2520696" y="3058668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Terra</a:t>
            </a:r>
            <a:endParaRPr lang="en-US" sz="2000"/>
          </a:p>
        </p:txBody>
      </p:sp>
      <p:sp>
        <p:nvSpPr>
          <p:cNvPr id="31" name="Shape 31"/>
          <p:cNvSpPr txBox="1"/>
          <p:nvPr/>
        </p:nvSpPr>
        <p:spPr>
          <a:xfrm>
            <a:off x="4364736" y="3058668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24/40</a:t>
            </a:r>
            <a:endParaRPr lang="en-US" sz="2000"/>
          </a:p>
        </p:txBody>
      </p:sp>
      <p:sp>
        <p:nvSpPr>
          <p:cNvPr id="32" name="Shape 32"/>
          <p:cNvSpPr txBox="1"/>
          <p:nvPr/>
        </p:nvSpPr>
        <p:spPr>
          <a:xfrm>
            <a:off x="6208776" y="3058668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$0.734194</a:t>
            </a:r>
            <a:endParaRPr lang="en-US" sz="2000"/>
          </a:p>
        </p:txBody>
      </p:sp>
      <p:sp>
        <p:nvSpPr>
          <p:cNvPr id="33" name="Shape 33"/>
          <p:cNvSpPr txBox="1"/>
          <p:nvPr/>
        </p:nvSpPr>
        <p:spPr>
          <a:xfrm>
            <a:off x="8974836" y="3058668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$0.030591</a:t>
            </a:r>
            <a:endParaRPr lang="en-US" sz="2000"/>
          </a:p>
        </p:txBody>
      </p:sp>
      <p:sp>
        <p:nvSpPr>
          <p:cNvPr id="34" name="Shape 34"/>
          <p:cNvSpPr txBox="1"/>
          <p:nvPr/>
        </p:nvSpPr>
        <p:spPr>
          <a:xfrm>
            <a:off x="566928" y="3415284"/>
            <a:ext cx="11064240" cy="37490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676656" y="3465576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Terra</a:t>
            </a:r>
            <a:endParaRPr lang="en-US" sz="2000"/>
          </a:p>
        </p:txBody>
      </p:sp>
      <p:sp>
        <p:nvSpPr>
          <p:cNvPr id="36" name="Shape 36"/>
          <p:cNvSpPr txBox="1"/>
          <p:nvPr/>
        </p:nvSpPr>
        <p:spPr>
          <a:xfrm>
            <a:off x="2520696" y="3465576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None</a:t>
            </a:r>
            <a:endParaRPr lang="en-US" sz="2000"/>
          </a:p>
        </p:txBody>
      </p:sp>
      <p:sp>
        <p:nvSpPr>
          <p:cNvPr id="37" name="Shape 37"/>
          <p:cNvSpPr txBox="1"/>
          <p:nvPr/>
        </p:nvSpPr>
        <p:spPr>
          <a:xfrm>
            <a:off x="4364736" y="3465576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29/40</a:t>
            </a:r>
            <a:endParaRPr lang="en-US" sz="2000"/>
          </a:p>
        </p:txBody>
      </p:sp>
      <p:sp>
        <p:nvSpPr>
          <p:cNvPr id="38" name="Shape 38"/>
          <p:cNvSpPr txBox="1"/>
          <p:nvPr/>
        </p:nvSpPr>
        <p:spPr>
          <a:xfrm>
            <a:off x="6208776" y="3465576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$6.610626</a:t>
            </a:r>
            <a:endParaRPr lang="en-US" sz="2000"/>
          </a:p>
        </p:txBody>
      </p:sp>
      <p:sp>
        <p:nvSpPr>
          <p:cNvPr id="39" name="Shape 39"/>
          <p:cNvSpPr txBox="1"/>
          <p:nvPr/>
        </p:nvSpPr>
        <p:spPr>
          <a:xfrm>
            <a:off x="8974836" y="3465576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$0.227953</a:t>
            </a:r>
            <a:endParaRPr lang="en-US" sz="2000"/>
          </a:p>
        </p:txBody>
      </p:sp>
      <p:sp>
        <p:nvSpPr>
          <p:cNvPr id="40" name="Shape 40"/>
          <p:cNvSpPr txBox="1"/>
          <p:nvPr/>
        </p:nvSpPr>
        <p:spPr>
          <a:xfrm>
            <a:off x="566928" y="3822192"/>
            <a:ext cx="11064240" cy="37490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41" name="Shape 41"/>
          <p:cNvSpPr txBox="1"/>
          <p:nvPr/>
        </p:nvSpPr>
        <p:spPr>
          <a:xfrm>
            <a:off x="676656" y="3872484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Terra</a:t>
            </a:r>
            <a:endParaRPr lang="en-US" sz="2000"/>
          </a:p>
        </p:txBody>
      </p:sp>
      <p:sp>
        <p:nvSpPr>
          <p:cNvPr id="42" name="Shape 42"/>
          <p:cNvSpPr txBox="1"/>
          <p:nvPr/>
        </p:nvSpPr>
        <p:spPr>
          <a:xfrm>
            <a:off x="2520696" y="3872484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Luna</a:t>
            </a:r>
            <a:endParaRPr lang="en-US" sz="2000"/>
          </a:p>
        </p:txBody>
      </p:sp>
      <p:sp>
        <p:nvSpPr>
          <p:cNvPr id="43" name="Shape 43"/>
          <p:cNvSpPr txBox="1"/>
          <p:nvPr/>
        </p:nvSpPr>
        <p:spPr>
          <a:xfrm>
            <a:off x="4364736" y="3872484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29/40</a:t>
            </a:r>
            <a:endParaRPr lang="en-US" sz="2000"/>
          </a:p>
        </p:txBody>
      </p:sp>
      <p:sp>
        <p:nvSpPr>
          <p:cNvPr id="44" name="Shape 44"/>
          <p:cNvSpPr txBox="1"/>
          <p:nvPr/>
        </p:nvSpPr>
        <p:spPr>
          <a:xfrm>
            <a:off x="6208776" y="3872484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$6.852274</a:t>
            </a:r>
            <a:endParaRPr lang="en-US" sz="2000"/>
          </a:p>
        </p:txBody>
      </p:sp>
      <p:sp>
        <p:nvSpPr>
          <p:cNvPr id="45" name="Shape 45"/>
          <p:cNvSpPr txBox="1"/>
          <p:nvPr/>
        </p:nvSpPr>
        <p:spPr>
          <a:xfrm>
            <a:off x="8974836" y="3872484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$0.236285</a:t>
            </a:r>
            <a:endParaRPr lang="en-US" sz="2000"/>
          </a:p>
        </p:txBody>
      </p:sp>
      <p:sp>
        <p:nvSpPr>
          <p:cNvPr id="46" name="Shape 46"/>
          <p:cNvSpPr txBox="1"/>
          <p:nvPr/>
        </p:nvSpPr>
        <p:spPr>
          <a:xfrm>
            <a:off x="566928" y="4229100"/>
            <a:ext cx="11064240" cy="374904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47" name="Shape 47"/>
          <p:cNvSpPr txBox="1"/>
          <p:nvPr/>
        </p:nvSpPr>
        <p:spPr>
          <a:xfrm>
            <a:off x="676656" y="4279392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Terra</a:t>
            </a:r>
            <a:endParaRPr lang="en-US" sz="2000"/>
          </a:p>
        </p:txBody>
      </p:sp>
      <p:sp>
        <p:nvSpPr>
          <p:cNvPr id="48" name="Shape 48"/>
          <p:cNvSpPr txBox="1"/>
          <p:nvPr/>
        </p:nvSpPr>
        <p:spPr>
          <a:xfrm>
            <a:off x="2520696" y="4279392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Terra</a:t>
            </a:r>
            <a:endParaRPr lang="en-US" sz="2000"/>
          </a:p>
        </p:txBody>
      </p:sp>
      <p:sp>
        <p:nvSpPr>
          <p:cNvPr id="49" name="Shape 49"/>
          <p:cNvSpPr txBox="1"/>
          <p:nvPr/>
        </p:nvSpPr>
        <p:spPr>
          <a:xfrm>
            <a:off x="4364736" y="4279392"/>
            <a:ext cx="162458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223D4A"/>
                </a:solidFill>
                <a:latin typeface="DejaVu Sans"/>
                <a:ea typeface="DejaVu Sans"/>
              </a:rPr>
              <a:t>30/40</a:t>
            </a:r>
            <a:endParaRPr lang="en-US" sz="2000"/>
          </a:p>
        </p:txBody>
      </p:sp>
      <p:sp>
        <p:nvSpPr>
          <p:cNvPr id="50" name="Shape 50"/>
          <p:cNvSpPr txBox="1"/>
          <p:nvPr/>
        </p:nvSpPr>
        <p:spPr>
          <a:xfrm>
            <a:off x="6208776" y="4279392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$6.451344</a:t>
            </a:r>
            <a:endParaRPr lang="en-US" sz="2000"/>
          </a:p>
        </p:txBody>
      </p:sp>
      <p:sp>
        <p:nvSpPr>
          <p:cNvPr id="51" name="Shape 51"/>
          <p:cNvSpPr txBox="1"/>
          <p:nvPr/>
        </p:nvSpPr>
        <p:spPr>
          <a:xfrm>
            <a:off x="8974836" y="4279392"/>
            <a:ext cx="2546604" cy="310896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$0.215045</a:t>
            </a:r>
            <a:endParaRPr lang="en-US" sz="2000"/>
          </a:p>
        </p:txBody>
      </p:sp>
      <p:sp>
        <p:nvSpPr>
          <p:cNvPr id="52" name="Shape 52"/>
          <p:cNvSpPr txBox="1"/>
          <p:nvPr/>
        </p:nvSpPr>
        <p:spPr>
          <a:xfrm>
            <a:off x="758952" y="4818888"/>
            <a:ext cx="10698480" cy="109728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1925" b="1">
                <a:solidFill>
                  <a:srgbClr val="223D4A"/>
                </a:solidFill>
                <a:latin typeface="DejaVu Sans"/>
                <a:ea typeface="DejaVu Sans"/>
              </a:rPr>
              <a:t>One row = 40 validationX problems.</a:t>
            </a:r>
            <a:r>
              <a:rPr lang="en-US" sz="1925" b="0">
                <a:solidFill>
                  <a:srgbClr val="223D4A"/>
                </a:solidFill>
                <a:latin typeface="DejaVu Sans"/>
                <a:ea typeface="DejaVu Sans"/>
              </a:rPr>
              <a:t> Recorded inference spending includes failures.</a:t>
            </a:r>
            <a:endParaRPr lang="en-US" sz="1925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1925" b="1">
                <a:solidFill>
                  <a:srgbClr val="223D4A"/>
                </a:solidFill>
                <a:latin typeface="DejaVu Sans"/>
                <a:ea typeface="DejaVu Sans"/>
              </a:rPr>
              <a:t>Preparation excluded;</a:t>
            </a:r>
            <a:r>
              <a:rPr lang="en-US" sz="1925" b="0">
                <a:solidFill>
                  <a:srgbClr val="223D4A"/>
                </a:solidFill>
                <a:latin typeface="DejaVu Sans"/>
                <a:ea typeface="DejaVu Sans"/>
              </a:rPr>
              <a:t> historical controls reused; not 240 independent theorems.</a:t>
            </a:r>
            <a:endParaRPr lang="en-US" sz="1925"/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BACKUP / HISTORICAL COMPARISON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Which historical books improved coverage?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B02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Two replicate identifiers on 40 validationX problems; separate books and delivery methods.</a:t>
            </a:r>
            <a:endParaRPr lang="en-US" sz="1450"/>
          </a:p>
        </p:txBody>
      </p:sp>
      <p:pic>
        <p:nvPicPr>
          <p:cNvPr id="10" name="historical" descr="Observed data; standalone figure and source CSV provi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546" y="1517904"/>
            <a:ext cx="8432428" cy="3557016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777240" y="5093208"/>
            <a:ext cx="10698480" cy="78638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X3 and no-Reflector: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 57/80 versus no ACE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54/80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; differences remain modest.</a:t>
            </a:r>
            <a:endParaRPr lang="en-US" sz="1750"/>
          </a:p>
          <a:p>
            <a:pPr algn="l" marL="164592" indent="-164592">
              <a:lnSpc>
                <a:spcPct val="107000"/>
              </a:lnSpc>
              <a:spcAft>
                <a:spcPts val="500"/>
              </a:spcAft>
              <a:buFont typeface="DejaVu Sans"/>
              <a:buChar char="•"/>
            </a:pP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Repair bullets: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 56 raw successes; </a:t>
            </a:r>
            <a:r>
              <a:rPr lang="en-US" sz="1750" b="1">
                <a:solidFill>
                  <a:srgbClr val="223D4A"/>
                </a:solidFill>
                <a:latin typeface="DejaVu Sans"/>
                <a:ea typeface="DejaVu Sans"/>
              </a:rPr>
              <a:t>55 qualify</a:t>
            </a:r>
            <a:r>
              <a:rPr lang="en-US" sz="1750" b="0">
                <a:solidFill>
                  <a:srgbClr val="223D4A"/>
                </a:solidFill>
                <a:latin typeface="DejaVu Sans"/>
                <a:ea typeface="DejaVu Sans"/>
              </a:rPr>
              <a:t> under the retrospective cost rule.</a:t>
            </a:r>
            <a:endParaRPr lang="en-US" sz="1750"/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BACKUP / ADMISSION SEMANTICS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How can a run stop while money remains?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B03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00" b="1">
                <a:solidFill>
                  <a:srgbClr val="007E80"/>
                </a:solidFill>
                <a:latin typeface="DejaVu Sans"/>
                <a:ea typeface="DejaVu Sans"/>
              </a:rPr>
              <a:t>Unused money is not automatically spendable; looser admission must still respect financial protection.</a:t>
            </a:r>
            <a:endParaRPr lang="en-US" sz="1400"/>
          </a:p>
        </p:txBody>
      </p:sp>
      <p:sp>
        <p:nvSpPr>
          <p:cNvPr id="10" name="Shape 10"/>
          <p:cNvSpPr txBox="1"/>
          <p:nvPr/>
        </p:nvSpPr>
        <p:spPr>
          <a:xfrm>
            <a:off x="658368" y="1837944"/>
            <a:ext cx="3493008" cy="16093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813816" y="2093976"/>
            <a:ext cx="3182112" cy="5669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100" b="1">
                <a:solidFill>
                  <a:srgbClr val="007E80"/>
                </a:solidFill>
                <a:latin typeface="DejaVu Sans"/>
                <a:ea typeface="DejaVu Sans"/>
              </a:rPr>
              <a:t>$0.085742</a:t>
            </a:r>
            <a:endParaRPr lang="en-US" sz="3100"/>
          </a:p>
        </p:txBody>
      </p:sp>
      <p:sp>
        <p:nvSpPr>
          <p:cNvPr id="12" name="Shape 12"/>
          <p:cNvSpPr txBox="1"/>
          <p:nvPr/>
        </p:nvSpPr>
        <p:spPr>
          <a:xfrm>
            <a:off x="813816" y="2843784"/>
            <a:ext cx="3182112" cy="34747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650" b="0">
                <a:solidFill>
                  <a:srgbClr val="526A76"/>
                </a:solidFill>
                <a:latin typeface="DejaVu Sans"/>
                <a:ea typeface="DejaVu Sans"/>
              </a:rPr>
              <a:t>Remaining balance</a:t>
            </a:r>
            <a:endParaRPr lang="en-US" sz="1650"/>
          </a:p>
        </p:txBody>
      </p:sp>
      <p:sp>
        <p:nvSpPr>
          <p:cNvPr id="13" name="Shape 13"/>
          <p:cNvSpPr txBox="1"/>
          <p:nvPr/>
        </p:nvSpPr>
        <p:spPr>
          <a:xfrm>
            <a:off x="4453128" y="1837944"/>
            <a:ext cx="3493008" cy="16093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4608576" y="2093976"/>
            <a:ext cx="3182112" cy="5669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100" b="1">
                <a:solidFill>
                  <a:srgbClr val="D38B32"/>
                </a:solidFill>
                <a:latin typeface="DejaVu Sans"/>
                <a:ea typeface="DejaVu Sans"/>
              </a:rPr>
              <a:t>$0.086368</a:t>
            </a:r>
            <a:endParaRPr lang="en-US" sz="3100"/>
          </a:p>
        </p:txBody>
      </p:sp>
      <p:sp>
        <p:nvSpPr>
          <p:cNvPr id="15" name="Shape 15"/>
          <p:cNvSpPr txBox="1"/>
          <p:nvPr/>
        </p:nvSpPr>
        <p:spPr>
          <a:xfrm>
            <a:off x="4608576" y="2843784"/>
            <a:ext cx="3182112" cy="34747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650" b="0">
                <a:solidFill>
                  <a:srgbClr val="526A76"/>
                </a:solidFill>
                <a:latin typeface="DejaVu Sans"/>
                <a:ea typeface="DejaVu Sans"/>
              </a:rPr>
              <a:t>Required reservation</a:t>
            </a:r>
            <a:endParaRPr lang="en-US" sz="1650"/>
          </a:p>
        </p:txBody>
      </p:sp>
      <p:sp>
        <p:nvSpPr>
          <p:cNvPr id="16" name="Shape 16"/>
          <p:cNvSpPr txBox="1"/>
          <p:nvPr/>
        </p:nvSpPr>
        <p:spPr>
          <a:xfrm>
            <a:off x="8247888" y="1837944"/>
            <a:ext cx="3493008" cy="16093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403336" y="2093976"/>
            <a:ext cx="3182112" cy="56692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100" b="1">
                <a:solidFill>
                  <a:srgbClr val="AE4C44"/>
                </a:solidFill>
                <a:latin typeface="DejaVu Sans"/>
                <a:ea typeface="DejaVu Sans"/>
              </a:rPr>
              <a:t>DENIED</a:t>
            </a:r>
            <a:endParaRPr lang="en-US" sz="3100"/>
          </a:p>
        </p:txBody>
      </p:sp>
      <p:sp>
        <p:nvSpPr>
          <p:cNvPr id="18" name="Shape 18"/>
          <p:cNvSpPr txBox="1"/>
          <p:nvPr/>
        </p:nvSpPr>
        <p:spPr>
          <a:xfrm>
            <a:off x="8403336" y="2843784"/>
            <a:ext cx="3182112" cy="34747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650" b="0">
                <a:solidFill>
                  <a:srgbClr val="526A76"/>
                </a:solidFill>
                <a:latin typeface="DejaVu Sans"/>
                <a:ea typeface="DejaVu Sans"/>
              </a:rPr>
              <a:t>$0.000626 over balance</a:t>
            </a:r>
            <a:endParaRPr lang="en-US" sz="1650"/>
          </a:p>
        </p:txBody>
      </p:sp>
      <p:sp>
        <p:nvSpPr>
          <p:cNvPr id="19" name="Shape 19"/>
          <p:cNvSpPr txBox="1"/>
          <p:nvPr/>
        </p:nvSpPr>
        <p:spPr>
          <a:xfrm>
            <a:off x="795528" y="3867912"/>
            <a:ext cx="10698480" cy="1892808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1600"/>
              </a:spcAft>
              <a:buFont typeface="DejaVu Sans"/>
              <a:buChar char="•"/>
            </a:pPr>
            <a:r>
              <a:rPr lang="en-US" sz="2175" b="1">
                <a:solidFill>
                  <a:srgbClr val="223D4A"/>
                </a:solidFill>
                <a:latin typeface="DejaVu Sans"/>
                <a:ea typeface="DejaVu Sans"/>
              </a:rPr>
              <a:t>Reserve input and maximum output charges</a:t>
            </a:r>
            <a:r>
              <a:rPr lang="en-US" sz="2175" b="0">
                <a:solidFill>
                  <a:srgbClr val="223D4A"/>
                </a:solidFill>
                <a:latin typeface="DejaVu Sans"/>
                <a:ea typeface="DejaVu Sans"/>
              </a:rPr>
              <a:t> before dispatch.</a:t>
            </a:r>
            <a:endParaRPr lang="en-US" sz="2175"/>
          </a:p>
          <a:p>
            <a:pPr algn="l" marL="164592" indent="-164592">
              <a:lnSpc>
                <a:spcPct val="107000"/>
              </a:lnSpc>
              <a:spcAft>
                <a:spcPts val="1600"/>
              </a:spcAft>
              <a:buFont typeface="DejaVu Sans"/>
              <a:buChar char="•"/>
            </a:pPr>
            <a:r>
              <a:rPr lang="en-US" sz="2175" b="1">
                <a:solidFill>
                  <a:srgbClr val="223D4A"/>
                </a:solidFill>
                <a:latin typeface="DejaVu Sans"/>
                <a:ea typeface="DejaVu Sans"/>
              </a:rPr>
              <a:t>Bound above balance → deny.</a:t>
            </a:r>
            <a:r>
              <a:rPr lang="en-US" sz="2175" b="0">
                <a:solidFill>
                  <a:srgbClr val="223D4A"/>
                </a:solidFill>
                <a:latin typeface="DejaVu Sans"/>
                <a:ea typeface="DejaVu Sans"/>
              </a:rPr>
              <a:t> The hypothetical actual bill is unknown.</a:t>
            </a:r>
            <a:endParaRPr lang="en-US" sz="2175"/>
          </a:p>
          <a:p>
            <a:pPr algn="l" marL="164592" indent="-164592">
              <a:lnSpc>
                <a:spcPct val="107000"/>
              </a:lnSpc>
              <a:spcAft>
                <a:spcPts val="1600"/>
              </a:spcAft>
              <a:buFont typeface="DejaVu Sans"/>
              <a:buChar char="•"/>
            </a:pPr>
            <a:r>
              <a:rPr lang="en-US" sz="2175" b="1">
                <a:solidFill>
                  <a:srgbClr val="223D4A"/>
                </a:solidFill>
                <a:latin typeface="DejaVu Sans"/>
                <a:ea typeface="DejaVu Sans"/>
              </a:rPr>
              <a:t>A smaller cap also constrains reasoning;</a:t>
            </a:r>
            <a:r>
              <a:rPr lang="en-US" sz="2175" b="0">
                <a:solidFill>
                  <a:srgbClr val="223D4A"/>
                </a:solidFill>
                <a:latin typeface="DejaVu Sans"/>
                <a:ea typeface="DejaVu Sans"/>
              </a:rPr>
              <a:t> the 4,096-token trial did not win.</a:t>
            </a:r>
            <a:endParaRPr lang="en-US" sz="2175"/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BACKUP / AMORTIZATION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When would preparing the book pay for itself?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B04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This is arithmetic under fixed assumptions, not a prediction of external generalization.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42611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Quantity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5157216" y="1655064"/>
            <a:ext cx="30723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Luna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8449056" y="1655064"/>
            <a:ext cx="307238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Terra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566928" y="2194560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676656" y="2244852"/>
            <a:ext cx="426110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200" b="0">
                <a:solidFill>
                  <a:srgbClr val="223D4A"/>
                </a:solidFill>
                <a:latin typeface="DejaVu Sans"/>
                <a:ea typeface="DejaVu Sans"/>
              </a:rPr>
              <a:t>Known preparation bill</a:t>
            </a:r>
            <a:endParaRPr lang="en-US" sz="2200"/>
          </a:p>
        </p:txBody>
      </p:sp>
      <p:sp>
        <p:nvSpPr>
          <p:cNvPr id="16" name="Shape 16"/>
          <p:cNvSpPr txBox="1"/>
          <p:nvPr/>
        </p:nvSpPr>
        <p:spPr>
          <a:xfrm>
            <a:off x="5157216" y="2244852"/>
            <a:ext cx="30723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200" b="1">
                <a:solidFill>
                  <a:srgbClr val="223D4A"/>
                </a:solidFill>
                <a:latin typeface="DejaVu Sans"/>
                <a:ea typeface="DejaVu Sans"/>
              </a:rPr>
              <a:t>≥ $0.9169</a:t>
            </a:r>
            <a:endParaRPr lang="en-US" sz="2200"/>
          </a:p>
        </p:txBody>
      </p:sp>
      <p:sp>
        <p:nvSpPr>
          <p:cNvPr id="17" name="Shape 17"/>
          <p:cNvSpPr txBox="1"/>
          <p:nvPr/>
        </p:nvSpPr>
        <p:spPr>
          <a:xfrm>
            <a:off x="8449056" y="2244852"/>
            <a:ext cx="30723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200" b="1">
                <a:solidFill>
                  <a:srgbClr val="223D4A"/>
                </a:solidFill>
                <a:latin typeface="DejaVu Sans"/>
                <a:ea typeface="DejaVu Sans"/>
              </a:rPr>
              <a:t>$8.0992</a:t>
            </a:r>
            <a:endParaRPr lang="en-US" sz="2200"/>
          </a:p>
        </p:txBody>
      </p:sp>
      <p:sp>
        <p:nvSpPr>
          <p:cNvPr id="18" name="Shape 18"/>
          <p:cNvSpPr txBox="1"/>
          <p:nvPr/>
        </p:nvSpPr>
        <p:spPr>
          <a:xfrm>
            <a:off x="566928" y="2871216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76656" y="2921508"/>
            <a:ext cx="426110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200" b="0">
                <a:solidFill>
                  <a:srgbClr val="223D4A"/>
                </a:solidFill>
                <a:latin typeface="DejaVu Sans"/>
                <a:ea typeface="DejaVu Sans"/>
              </a:rPr>
              <a:t>Inference saving / 40 tasks</a:t>
            </a:r>
            <a:endParaRPr lang="en-US" sz="2200"/>
          </a:p>
        </p:txBody>
      </p:sp>
      <p:sp>
        <p:nvSpPr>
          <p:cNvPr id="20" name="Shape 20"/>
          <p:cNvSpPr txBox="1"/>
          <p:nvPr/>
        </p:nvSpPr>
        <p:spPr>
          <a:xfrm>
            <a:off x="5157216" y="2921508"/>
            <a:ext cx="30723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200" b="0">
                <a:solidFill>
                  <a:srgbClr val="223D4A"/>
                </a:solidFill>
                <a:latin typeface="DejaVu Sans"/>
                <a:ea typeface="DejaVu Sans"/>
              </a:rPr>
              <a:t>$0.1093</a:t>
            </a:r>
            <a:endParaRPr lang="en-US" sz="2200"/>
          </a:p>
        </p:txBody>
      </p:sp>
      <p:sp>
        <p:nvSpPr>
          <p:cNvPr id="21" name="Shape 21"/>
          <p:cNvSpPr txBox="1"/>
          <p:nvPr/>
        </p:nvSpPr>
        <p:spPr>
          <a:xfrm>
            <a:off x="8449056" y="2921508"/>
            <a:ext cx="30723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200" b="0">
                <a:solidFill>
                  <a:srgbClr val="223D4A"/>
                </a:solidFill>
                <a:latin typeface="DejaVu Sans"/>
                <a:ea typeface="DejaVu Sans"/>
              </a:rPr>
              <a:t>$0.1593</a:t>
            </a:r>
            <a:endParaRPr lang="en-US" sz="2200"/>
          </a:p>
        </p:txBody>
      </p:sp>
      <p:sp>
        <p:nvSpPr>
          <p:cNvPr id="22" name="Shape 22"/>
          <p:cNvSpPr txBox="1"/>
          <p:nvPr/>
        </p:nvSpPr>
        <p:spPr>
          <a:xfrm>
            <a:off x="566928" y="3547872"/>
            <a:ext cx="11064240" cy="644652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676656" y="3598164"/>
            <a:ext cx="426110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b="0">
                <a:solidFill>
                  <a:srgbClr val="223D4A"/>
                </a:solidFill>
                <a:latin typeface="DejaVu Sans"/>
                <a:ea typeface="DejaVu Sans"/>
              </a:rPr>
              <a:t>Conditional break-even workload</a:t>
            </a:r>
            <a:endParaRPr lang="en-US" sz="2000"/>
          </a:p>
        </p:txBody>
      </p:sp>
      <p:sp>
        <p:nvSpPr>
          <p:cNvPr id="24" name="Shape 24"/>
          <p:cNvSpPr txBox="1"/>
          <p:nvPr/>
        </p:nvSpPr>
        <p:spPr>
          <a:xfrm>
            <a:off x="5157216" y="3598164"/>
            <a:ext cx="30723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200" b="1">
                <a:solidFill>
                  <a:srgbClr val="223D4A"/>
                </a:solidFill>
                <a:latin typeface="DejaVu Sans"/>
                <a:ea typeface="DejaVu Sans"/>
              </a:rPr>
              <a:t>≈ 336 tasks</a:t>
            </a:r>
            <a:endParaRPr lang="en-US" sz="2200"/>
          </a:p>
        </p:txBody>
      </p:sp>
      <p:sp>
        <p:nvSpPr>
          <p:cNvPr id="25" name="Shape 25"/>
          <p:cNvSpPr txBox="1"/>
          <p:nvPr/>
        </p:nvSpPr>
        <p:spPr>
          <a:xfrm>
            <a:off x="8449056" y="3598164"/>
            <a:ext cx="3072384" cy="5806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200" b="1">
                <a:solidFill>
                  <a:srgbClr val="223D4A"/>
                </a:solidFill>
                <a:latin typeface="DejaVu Sans"/>
                <a:ea typeface="DejaVu Sans"/>
              </a:rPr>
              <a:t>≈ 2,034 tasks</a:t>
            </a:r>
            <a:endParaRPr lang="en-US" sz="2200"/>
          </a:p>
        </p:txBody>
      </p:sp>
      <p:sp>
        <p:nvSpPr>
          <p:cNvPr id="26" name="Shape 26"/>
          <p:cNvSpPr txBox="1"/>
          <p:nvPr/>
        </p:nvSpPr>
        <p:spPr>
          <a:xfrm>
            <a:off x="758952" y="4407408"/>
            <a:ext cx="10698480" cy="15087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Assumptions: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unchanged task mix, coverage, prices, cache reuse and usefulness.</a:t>
            </a:r>
            <a:endParaRPr lang="en-US" sz="1900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Denominator: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future attempted problems; unsuccessful attempts also count.</a:t>
            </a:r>
            <a:endParaRPr lang="en-US" sz="1900"/>
          </a:p>
          <a:p>
            <a:pPr algn="l" marL="164592" indent="-164592">
              <a:lnSpc>
                <a:spcPct val="107000"/>
              </a:lnSpc>
              <a:spcAft>
                <a:spcPts val="600"/>
              </a:spcAft>
              <a:buFont typeface="DejaVu Sans"/>
              <a:buChar char="•"/>
            </a:pPr>
            <a:r>
              <a:rPr lang="en-US" sz="1900" b="1">
                <a:solidFill>
                  <a:srgbClr val="223D4A"/>
                </a:solidFill>
                <a:latin typeface="DejaVu Sans"/>
                <a:ea typeface="DejaVu Sans"/>
              </a:rPr>
              <a:t>Not included:</a:t>
            </a:r>
            <a:r>
              <a:rPr lang="en-US" sz="1900" b="0">
                <a:solidFill>
                  <a:srgbClr val="223D4A"/>
                </a:solidFill>
                <a:latin typeface="DejaVu Sans"/>
                <a:ea typeface="DejaVu Sans"/>
              </a:rPr>
              <a:t> engineering / assistant costs; Luna’s missing historical embeddings.</a:t>
            </a:r>
            <a:endParaRPr lang="en-US" sz="1900"/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BACKUP / EVIDENCE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Which evidence should an ACE lesson retain?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B05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File to inspect: report/ace_retrospective/data/creator_terminal_evidence.json, entry 0.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566928" y="1755648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7724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Proposal and execution</a:t>
            </a:r>
            <a:endParaRPr lang="en-US" sz="2000"/>
          </a:p>
        </p:txBody>
      </p:sp>
      <p:sp>
        <p:nvSpPr>
          <p:cNvPr id="13" name="Shape 13"/>
          <p:cNvSpPr txBox="1"/>
          <p:nvPr/>
        </p:nvSpPr>
        <p:spPr>
          <a:xfrm>
            <a:off x="77724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The exact submitted script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and the prefix actually executed.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Accepted terminal proof,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including automatic assistance such as nia.</a:t>
            </a:r>
            <a:endParaRPr lang="en-US" sz="1850"/>
          </a:p>
        </p:txBody>
      </p:sp>
      <p:sp>
        <p:nvSpPr>
          <p:cNvPr id="14" name="Shape 14"/>
          <p:cNvSpPr txBox="1"/>
          <p:nvPr/>
        </p:nvSpPr>
        <p:spPr>
          <a:xfrm>
            <a:off x="623620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236208" y="1755648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44652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The concrete witness</a:t>
            </a:r>
            <a:endParaRPr lang="en-US" sz="2000"/>
          </a:p>
        </p:txBody>
      </p:sp>
      <p:sp>
        <p:nvSpPr>
          <p:cNvPr id="17" name="Shape 17"/>
          <p:cNvSpPr txBox="1"/>
          <p:nvPr/>
        </p:nvSpPr>
        <p:spPr>
          <a:xfrm>
            <a:off x="644652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amc12_2000_p6: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final_check.success = true.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nia. accepted; missing from proposal.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The proof succeeded.</a:t>
            </a:r>
            <a:endParaRPr lang="en-US" sz="1850"/>
          </a:p>
        </p:txBody>
      </p:sp>
      <p:sp>
        <p:nvSpPr>
          <p:cNvPr id="18" name="Shape 18"/>
          <p:cNvSpPr txBox="1"/>
          <p:nvPr/>
        </p:nvSpPr>
        <p:spPr>
          <a:xfrm>
            <a:off x="56692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66928" y="3977640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7724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From source to lesson</a:t>
            </a:r>
            <a:endParaRPr lang="en-US" sz="2000"/>
          </a:p>
        </p:txBody>
      </p:sp>
      <p:sp>
        <p:nvSpPr>
          <p:cNvPr id="21" name="Shape 21"/>
          <p:cNvSpPr txBox="1"/>
          <p:nvPr/>
        </p:nvSpPr>
        <p:spPr>
          <a:xfrm>
            <a:off x="77724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Context, bindings and checked snippet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attached to the lesson.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Preserve valid syntax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through reflection, curation and reduction.</a:t>
            </a:r>
            <a:endParaRPr lang="en-US" sz="1850"/>
          </a:p>
        </p:txBody>
      </p:sp>
      <p:sp>
        <p:nvSpPr>
          <p:cNvPr id="22" name="Shape 22"/>
          <p:cNvSpPr txBox="1"/>
          <p:nvPr/>
        </p:nvSpPr>
        <p:spPr>
          <a:xfrm>
            <a:off x="623620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236208" y="3977640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644652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From lesson to benefit</a:t>
            </a:r>
            <a:endParaRPr lang="en-US" sz="2000"/>
          </a:p>
        </p:txBody>
      </p:sp>
      <p:sp>
        <p:nvSpPr>
          <p:cNvPr id="25" name="Shape 25"/>
          <p:cNvSpPr txBox="1"/>
          <p:nvPr/>
        </p:nvSpPr>
        <p:spPr>
          <a:xfrm>
            <a:off x="644652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Show delivery and use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in the later operation.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Then measure full proofs and total spending;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local validity is insufficient.</a:t>
            </a:r>
            <a:endParaRPr lang="en-US" sz="1850"/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BACKUP / MEASUREMENT RULES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Why is +3 solves not yet a supported gain?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B06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Do not buy extra seeds merely to cross a significance threshold; testX stays closed.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566928" y="1755648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77724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What the three gains say</a:t>
            </a:r>
            <a:endParaRPr lang="en-US" sz="2000"/>
          </a:p>
        </p:txBody>
      </p:sp>
      <p:sp>
        <p:nvSpPr>
          <p:cNvPr id="13" name="Shape 13"/>
          <p:cNvSpPr txBox="1"/>
          <p:nvPr/>
        </p:nvSpPr>
        <p:spPr>
          <a:xfrm>
            <a:off x="77724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3 gains, 0 losses: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paired exact p = </a:t>
            </a: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0.25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No proof of a general effect;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also no proof that ACE has zero value.</a:t>
            </a:r>
            <a:endParaRPr lang="en-US" sz="1850"/>
          </a:p>
        </p:txBody>
      </p:sp>
      <p:sp>
        <p:nvSpPr>
          <p:cNvPr id="14" name="Shape 14"/>
          <p:cNvSpPr txBox="1"/>
          <p:nvPr/>
        </p:nvSpPr>
        <p:spPr>
          <a:xfrm>
            <a:off x="6236208" y="1572768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236208" y="1755648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446520" y="1737360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142C3B"/>
                </a:solidFill>
                <a:latin typeface="DejaVu Sans"/>
                <a:ea typeface="DejaVu Sans"/>
              </a:rPr>
              <a:t>What counts as evidence</a:t>
            </a:r>
            <a:endParaRPr lang="en-US" sz="2000"/>
          </a:p>
        </p:txBody>
      </p:sp>
      <p:sp>
        <p:nvSpPr>
          <p:cNvPr id="17" name="Shape 17"/>
          <p:cNvSpPr txBox="1"/>
          <p:nvPr/>
        </p:nvSpPr>
        <p:spPr>
          <a:xfrm>
            <a:off x="6446520" y="2212848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25" b="1">
                <a:solidFill>
                  <a:srgbClr val="223D4A"/>
                </a:solidFill>
                <a:latin typeface="DejaVu Sans"/>
                <a:ea typeface="DejaVu Sans"/>
              </a:rPr>
              <a:t>All expected cells;</a:t>
            </a:r>
            <a:r>
              <a:rPr lang="en-US" sz="1825" b="0">
                <a:solidFill>
                  <a:srgbClr val="223D4A"/>
                </a:solidFill>
                <a:latin typeface="DejaVu Sans"/>
                <a:ea typeface="DejaVu Sans"/>
              </a:rPr>
              <a:t> platform failures retained in the denominator.</a:t>
            </a:r>
            <a:endParaRPr lang="en-US" sz="1825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25" b="1">
                <a:solidFill>
                  <a:srgbClr val="223D4A"/>
                </a:solidFill>
                <a:latin typeface="DejaVu Sans"/>
                <a:ea typeface="DejaVu Sans"/>
              </a:rPr>
              <a:t>Whole-panel costs,</a:t>
            </a:r>
            <a:r>
              <a:rPr lang="en-US" sz="1825" b="0">
                <a:solidFill>
                  <a:srgbClr val="223D4A"/>
                </a:solidFill>
                <a:latin typeface="DejaVu Sans"/>
                <a:ea typeface="DejaVu Sans"/>
              </a:rPr>
              <a:t> including failed attempts, retries and known liabilities.</a:t>
            </a:r>
            <a:endParaRPr lang="en-US" sz="1825"/>
          </a:p>
        </p:txBody>
      </p:sp>
      <p:sp>
        <p:nvSpPr>
          <p:cNvPr id="18" name="Shape 18"/>
          <p:cNvSpPr txBox="1"/>
          <p:nvPr/>
        </p:nvSpPr>
        <p:spPr>
          <a:xfrm>
            <a:off x="56692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566928" y="3977640"/>
            <a:ext cx="50292" cy="374904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7724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>
                <a:solidFill>
                  <a:srgbClr val="007E80"/>
                </a:solidFill>
                <a:latin typeface="DejaVu Sans"/>
                <a:ea typeface="DejaVu Sans"/>
              </a:rPr>
              <a:t>What is independent</a:t>
            </a:r>
            <a:endParaRPr lang="en-US" sz="2000"/>
          </a:p>
        </p:txBody>
      </p:sp>
      <p:sp>
        <p:nvSpPr>
          <p:cNvPr id="21" name="Shape 21"/>
          <p:cNvSpPr txBox="1"/>
          <p:nvPr/>
        </p:nvSpPr>
        <p:spPr>
          <a:xfrm>
            <a:off x="77724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Cluster related theorem families and repeated seeds.</a:t>
            </a:r>
            <a:endParaRPr lang="en-US" sz="185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50" b="1">
                <a:solidFill>
                  <a:srgbClr val="223D4A"/>
                </a:solidFill>
                <a:latin typeface="DejaVu Sans"/>
                <a:ea typeface="DejaVu Sans"/>
              </a:rPr>
              <a:t>validationX is reused development data;</a:t>
            </a:r>
            <a:r>
              <a:rPr lang="en-US" sz="1850" b="0">
                <a:solidFill>
                  <a:srgbClr val="223D4A"/>
                </a:solidFill>
                <a:latin typeface="DejaVu Sans"/>
                <a:ea typeface="DejaVu Sans"/>
              </a:rPr>
              <a:t> selection is not confirmation.</a:t>
            </a:r>
            <a:endParaRPr lang="en-US" sz="1850"/>
          </a:p>
        </p:txBody>
      </p:sp>
      <p:sp>
        <p:nvSpPr>
          <p:cNvPr id="22" name="Shape 22"/>
          <p:cNvSpPr txBox="1"/>
          <p:nvPr/>
        </p:nvSpPr>
        <p:spPr>
          <a:xfrm>
            <a:off x="6236208" y="3794760"/>
            <a:ext cx="5394960" cy="2066544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solidFill>
              <a:srgbClr val="DCE5E7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236208" y="3977640"/>
            <a:ext cx="50292" cy="374904"/>
          </a:xfrm>
          <a:prstGeom prst="rect">
            <a:avLst/>
          </a:prstGeom>
          <a:solidFill>
            <a:srgbClr val="D38B32"/>
          </a:solidFill>
          <a:ln w="700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6446520" y="3959352"/>
            <a:ext cx="4974336" cy="4389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950" b="1">
                <a:solidFill>
                  <a:srgbClr val="142C3B"/>
                </a:solidFill>
                <a:latin typeface="DejaVu Sans"/>
                <a:ea typeface="DejaVu Sans"/>
              </a:rPr>
              <a:t>What permits a practical decision</a:t>
            </a:r>
            <a:endParaRPr lang="en-US" sz="1950"/>
          </a:p>
        </p:txBody>
      </p:sp>
      <p:sp>
        <p:nvSpPr>
          <p:cNvPr id="25" name="Shape 25"/>
          <p:cNvSpPr txBox="1"/>
          <p:nvPr/>
        </p:nvSpPr>
        <p:spPr>
          <a:xfrm>
            <a:off x="6446520" y="4434840"/>
            <a:ext cx="4937760" cy="135331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Support: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two-sided p &lt; 0.10; 90% intervals.</a:t>
            </a:r>
            <a:endParaRPr lang="en-US" sz="1800"/>
          </a:p>
          <a:p>
            <a:pPr algn="l" marL="164592" indent="-164592">
              <a:lnSpc>
                <a:spcPct val="107000"/>
              </a:lnSpc>
              <a:spcAft>
                <a:spcPts val="700"/>
              </a:spcAft>
              <a:buFont typeface="DejaVu Sans"/>
              <a:buChar char="•"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Expansion, trade-off and promotion</a:t>
            </a: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 are separate decisions; preserve gates.</a:t>
            </a:r>
            <a:endParaRPr lang="en-US" sz="1800"/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5"/>
          </a:solidFill>
          <a:ln w="7000"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566928" y="292608"/>
            <a:ext cx="384048" cy="50292"/>
          </a:xfrm>
          <a:prstGeom prst="rect">
            <a:avLst/>
          </a:prstGeom>
          <a:solidFill>
            <a:srgbClr val="007E80"/>
          </a:solidFill>
          <a:ln w="700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1069848" y="210312"/>
            <a:ext cx="978408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050" b="0">
                <a:solidFill>
                  <a:srgbClr val="526A76"/>
                </a:solidFill>
                <a:latin typeface="DejaVu Sans"/>
                <a:ea typeface="DejaVu Sans"/>
              </a:rPr>
              <a:t>OMPHALOS  /  BACKUP / NAVIGATION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566928" y="612648"/>
            <a:ext cx="11018520" cy="82296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3000" b="1">
                <a:solidFill>
                  <a:srgbClr val="142C3B"/>
                </a:solidFill>
                <a:latin typeface="DejaVu Sans"/>
                <a:ea typeface="DejaVu Sans"/>
              </a:rPr>
              <a:t>Which files should I rehearse before presenting?</a:t>
            </a:r>
            <a:endParaRPr lang="en-US" sz="3000"/>
          </a:p>
        </p:txBody>
      </p:sp>
      <p:sp>
        <p:nvSpPr>
          <p:cNvPr id="6" name="Shape 6"/>
          <p:cNvSpPr txBox="1"/>
          <p:nvPr/>
        </p:nvSpPr>
        <p:spPr>
          <a:xfrm>
            <a:off x="566928" y="6601968"/>
            <a:ext cx="9144000" cy="1645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900" b="0">
                <a:solidFill>
                  <a:srgbClr val="526A76"/>
                </a:solidFill>
                <a:latin typeface="DejaVu Sans"/>
                <a:ea typeface="DejaVu Sans"/>
              </a:rPr>
              <a:t>Delphyne · Development evidence · 13 September 2026</a:t>
            </a:r>
            <a:endParaRPr lang="en-US" sz="900"/>
          </a:p>
        </p:txBody>
      </p:sp>
      <p:sp>
        <p:nvSpPr>
          <p:cNvPr id="7" name="Shape 7"/>
          <p:cNvSpPr txBox="1"/>
          <p:nvPr/>
        </p:nvSpPr>
        <p:spPr>
          <a:xfrm>
            <a:off x="10698480" y="6556248"/>
            <a:ext cx="914400" cy="228600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526A76"/>
                </a:solidFill>
                <a:latin typeface="DejaVu Sans"/>
                <a:ea typeface="DejaVu Sans"/>
              </a:rPr>
              <a:t>B07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CE5E7"/>
          </a:solidFill>
          <a:ln w="700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566928" y="6007608"/>
            <a:ext cx="11064240" cy="39319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007E80"/>
                </a:solidFill>
                <a:latin typeface="DejaVu Sans"/>
                <a:ea typeface="DejaVu Sans"/>
              </a:rPr>
              <a:t>Read-only rehearsal; no experiment launch, partition loader or live model call is needed.</a:t>
            </a:r>
            <a:endParaRPr lang="en-US" sz="1450"/>
          </a:p>
        </p:txBody>
      </p:sp>
      <p:sp>
        <p:nvSpPr>
          <p:cNvPr id="10" name="Shape 10"/>
          <p:cNvSpPr txBox="1"/>
          <p:nvPr/>
        </p:nvSpPr>
        <p:spPr>
          <a:xfrm>
            <a:off x="566928" y="1572768"/>
            <a:ext cx="11064240" cy="621792"/>
          </a:xfrm>
          <a:prstGeom prst="roundRect">
            <a:avLst>
              <a:gd name="adj" fmla="val 6500"/>
            </a:avLst>
          </a:prstGeom>
          <a:solidFill>
            <a:srgbClr val="142C3B"/>
          </a:solidFill>
          <a:ln w="7000"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76656" y="1655064"/>
            <a:ext cx="197510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Question</a:t>
            </a:r>
            <a:endParaRPr lang="en-US" sz="1450"/>
          </a:p>
        </p:txBody>
      </p:sp>
      <p:sp>
        <p:nvSpPr>
          <p:cNvPr id="12" name="Shape 12"/>
          <p:cNvSpPr txBox="1"/>
          <p:nvPr/>
        </p:nvSpPr>
        <p:spPr>
          <a:xfrm>
            <a:off x="2871216" y="1655064"/>
            <a:ext cx="526694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File · relative to examples/omphalos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8357616" y="1655064"/>
            <a:ext cx="3163824" cy="466344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450" b="1">
                <a:solidFill>
                  <a:srgbClr val="FFFFFF"/>
                </a:solidFill>
                <a:latin typeface="DejaVu Sans"/>
                <a:ea typeface="DejaVu Sans"/>
              </a:rPr>
              <a:t>Search / inspect</a:t>
            </a:r>
            <a:endParaRPr lang="en-US" sz="1450"/>
          </a:p>
        </p:txBody>
      </p:sp>
      <p:sp>
        <p:nvSpPr>
          <p:cNvPr id="14" name="Shape 14"/>
          <p:cNvSpPr txBox="1"/>
          <p:nvPr/>
        </p:nvSpPr>
        <p:spPr>
          <a:xfrm>
            <a:off x="566928" y="2194560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676656" y="2244852"/>
            <a:ext cx="19751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How is ACE wired?</a:t>
            </a:r>
            <a:endParaRPr lang="en-US" sz="1800"/>
          </a:p>
        </p:txBody>
      </p:sp>
      <p:sp>
        <p:nvSpPr>
          <p:cNvPr id="16" name="Shape 16"/>
          <p:cNvSpPr txBox="1"/>
          <p:nvPr/>
        </p:nvSpPr>
        <p:spPr>
          <a:xfrm>
            <a:off x="2871216" y="2244852"/>
            <a:ext cx="526694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prove_ace.py</a:t>
            </a:r>
            <a:endParaRPr lang="en-US" sz="1800"/>
          </a:p>
        </p:txBody>
      </p:sp>
      <p:sp>
        <p:nvSpPr>
          <p:cNvPr id="17" name="Shape 17"/>
          <p:cNvSpPr txBox="1"/>
          <p:nvPr/>
        </p:nvSpPr>
        <p:spPr>
          <a:xfrm>
            <a:off x="8357616" y="2244852"/>
            <a:ext cx="316382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prove_theorem_ace; ReflectOnTrajectory</a:t>
            </a:r>
            <a:endParaRPr lang="en-US" sz="1800"/>
          </a:p>
        </p:txBody>
      </p:sp>
      <p:sp>
        <p:nvSpPr>
          <p:cNvPr id="18" name="Shape 18"/>
          <p:cNvSpPr txBox="1"/>
          <p:nvPr/>
        </p:nvSpPr>
        <p:spPr>
          <a:xfrm>
            <a:off x="566928" y="2920594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76656" y="2970886"/>
            <a:ext cx="19751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How is the book stored?</a:t>
            </a:r>
            <a:endParaRPr lang="en-US" sz="1800"/>
          </a:p>
        </p:txBody>
      </p:sp>
      <p:sp>
        <p:nvSpPr>
          <p:cNvPr id="20" name="Shape 20"/>
          <p:cNvSpPr txBox="1"/>
          <p:nvPr/>
        </p:nvSpPr>
        <p:spPr>
          <a:xfrm>
            <a:off x="2871216" y="2970886"/>
            <a:ext cx="526694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ace/ace_playbook.py; ace/ace_store.py</a:t>
            </a:r>
            <a:endParaRPr lang="en-US" sz="1800"/>
          </a:p>
        </p:txBody>
      </p:sp>
      <p:sp>
        <p:nvSpPr>
          <p:cNvPr id="21" name="Shape 21"/>
          <p:cNvSpPr txBox="1"/>
          <p:nvPr/>
        </p:nvSpPr>
        <p:spPr>
          <a:xfrm>
            <a:off x="8357616" y="2970886"/>
            <a:ext cx="316382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merge; refine; PlaybookStore.put</a:t>
            </a:r>
            <a:endParaRPr lang="en-US" sz="1800"/>
          </a:p>
        </p:txBody>
      </p:sp>
      <p:sp>
        <p:nvSpPr>
          <p:cNvPr id="22" name="Shape 22"/>
          <p:cNvSpPr txBox="1"/>
          <p:nvPr/>
        </p:nvSpPr>
        <p:spPr>
          <a:xfrm>
            <a:off x="566928" y="3646627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676656" y="3696919"/>
            <a:ext cx="19751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Where is 38/40?</a:t>
            </a:r>
            <a:endParaRPr lang="en-US" sz="1800"/>
          </a:p>
        </p:txBody>
      </p:sp>
      <p:sp>
        <p:nvSpPr>
          <p:cNvPr id="24" name="Shape 24"/>
          <p:cNvSpPr txBox="1"/>
          <p:nvPr/>
        </p:nvSpPr>
        <p:spPr>
          <a:xfrm>
            <a:off x="2871216" y="3696919"/>
            <a:ext cx="526694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experiments/campaigns/ace_attribution_20260912/RESULTS.md</a:t>
            </a:r>
            <a:endParaRPr lang="en-US" sz="1800"/>
          </a:p>
        </p:txBody>
      </p:sp>
      <p:sp>
        <p:nvSpPr>
          <p:cNvPr id="25" name="Shape 25"/>
          <p:cNvSpPr txBox="1"/>
          <p:nvPr/>
        </p:nvSpPr>
        <p:spPr>
          <a:xfrm>
            <a:off x="8357616" y="3696919"/>
            <a:ext cx="316382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Playbook creation; Generator solves</a:t>
            </a:r>
            <a:endParaRPr lang="en-US" sz="1800"/>
          </a:p>
        </p:txBody>
      </p:sp>
      <p:sp>
        <p:nvSpPr>
          <p:cNvPr id="26" name="Shape 26"/>
          <p:cNvSpPr txBox="1"/>
          <p:nvPr/>
        </p:nvSpPr>
        <p:spPr>
          <a:xfrm>
            <a:off x="566928" y="4372661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EDF1F1"/>
          </a:solidFill>
          <a:ln w="700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676656" y="4422953"/>
            <a:ext cx="19751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What stopped a call?</a:t>
            </a:r>
            <a:endParaRPr lang="en-US" sz="1800"/>
          </a:p>
        </p:txBody>
      </p:sp>
      <p:sp>
        <p:nvSpPr>
          <p:cNvPr id="28" name="Shape 28"/>
          <p:cNvSpPr txBox="1"/>
          <p:nvPr/>
        </p:nvSpPr>
        <p:spPr>
          <a:xfrm>
            <a:off x="2871216" y="4422953"/>
            <a:ext cx="526694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runtime/campaign_budget.py</a:t>
            </a:r>
            <a:endParaRPr lang="en-US" sz="1800"/>
          </a:p>
        </p:txBody>
      </p:sp>
      <p:sp>
        <p:nvSpPr>
          <p:cNvPr id="29" name="Shape 29"/>
          <p:cNvSpPr txBox="1"/>
          <p:nvPr/>
        </p:nvSpPr>
        <p:spPr>
          <a:xfrm>
            <a:off x="8357616" y="4422953"/>
            <a:ext cx="316382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estimate_budget; Ledger.reserve</a:t>
            </a:r>
            <a:endParaRPr lang="en-US" sz="1800"/>
          </a:p>
        </p:txBody>
      </p:sp>
      <p:sp>
        <p:nvSpPr>
          <p:cNvPr id="30" name="Shape 30"/>
          <p:cNvSpPr txBox="1"/>
          <p:nvPr/>
        </p:nvSpPr>
        <p:spPr>
          <a:xfrm>
            <a:off x="566928" y="5098694"/>
            <a:ext cx="11064240" cy="69403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000"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76656" y="5148986"/>
            <a:ext cx="197510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223D4A"/>
                </a:solidFill>
                <a:latin typeface="DejaVu Sans"/>
                <a:ea typeface="DejaVu Sans"/>
              </a:rPr>
              <a:t>Terminal witness?</a:t>
            </a:r>
            <a:endParaRPr lang="en-US" sz="1800"/>
          </a:p>
        </p:txBody>
      </p:sp>
      <p:sp>
        <p:nvSpPr>
          <p:cNvPr id="32" name="Shape 32"/>
          <p:cNvSpPr txBox="1"/>
          <p:nvPr/>
        </p:nvSpPr>
        <p:spPr>
          <a:xfrm>
            <a:off x="2871216" y="5148986"/>
            <a:ext cx="526694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report/ace_retrospective/data/creator_terminal_evidence.json</a:t>
            </a:r>
            <a:endParaRPr lang="en-US" sz="1800"/>
          </a:p>
        </p:txBody>
      </p:sp>
      <p:sp>
        <p:nvSpPr>
          <p:cNvPr id="33" name="Shape 33"/>
          <p:cNvSpPr txBox="1"/>
          <p:nvPr/>
        </p:nvSpPr>
        <p:spPr>
          <a:xfrm>
            <a:off x="8357616" y="5148986"/>
            <a:ext cx="3163824" cy="630022"/>
          </a:xfrm>
          <a:prstGeom prst="rect">
            <a:avLst/>
          </a:prstGeom>
          <a:noFill/>
          <a:ln w="70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223D4A"/>
                </a:solidFill>
                <a:latin typeface="DejaVu Sans"/>
                <a:ea typeface="DejaVu Sans"/>
              </a:rPr>
              <a:t>entry 0; final_check; last_tactic</a:t>
            </a:r>
            <a:endParaRPr lang="en-US" sz="1800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2</ns0:TotalTime>
  <ns0:Words>49</ns0:Words>
  <ns0:Application>Microsoft Office PowerPoint</ns0:Application>
  <ns0:PresentationFormat>On-screen Show (4:3)</ns0:PresentationFormat>
  <ns0:Paragraphs>15</ns0:Paragraphs>
  <ns0:Slides>31</ns0:Slides>
  <ns0:Notes>2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2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4</ns1:i4>
      </ns1:variant>
    </ns1:vector>
  </ns0:HeadingPairs>
  <ns0:TitlesOfParts>
    <ns1:vector size="7" baseType="lpstr">
      <ns1:lpstr>Arial</ns1:lpstr>
      <ns1:lpstr>Calibri</ns1:lpstr>
      <ns1:lpstr>Office Theme</ns1:lpstr>
      <ns1:lpstr>Presentation Title</ns1:lpstr>
      <ns1:lpstr>Slide Title</ns1:lpstr>
      <ns1:lpstr>Section header</ns1:lpstr>
      <ns1:lpstr>Slide Title for Two-Content</ns1:lpstr>
    </ns1:vector>
  </ns0:TitlesOfParts>
  <ns0:Company/>
  <ns0:LinksUpToDate>false</ns0:LinksUpToDate>
  <ns0:SharedDoc>false</ns0:SharedDoc>
  <ns0:HyperlinksChanged>false</ns0:HyperlinksChanged>
  <ns0:AppVersion>15.0000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2026-09-13T16:50:43Z</dcterms:created>
  <dcterms:modified xsi:type="dcterms:W3CDTF">2026-09-13T16:50:43Z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